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7" d="100"/>
          <a:sy n="117" d="100"/>
        </p:scale>
        <p:origin x="466"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39846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Text 2"/>
          <p:cNvSpPr txBox="1"/>
          <p:nvPr/>
        </p:nvSpPr>
        <p:spPr>
          <a:xfrm>
            <a:off x="1097280" y="731520"/>
            <a:ext cx="6949440" cy="731520"/>
          </a:xfrm>
          <a:prstGeom prst="rect">
            <a:avLst/>
          </a:prstGeom>
          <a:noFill/>
          <a:ln/>
        </p:spPr>
        <p:txBody>
          <a:bodyPr wrap="square" rtlCol="0" anchor="ctr"/>
          <a:lstStyle/>
          <a:p>
            <a:pPr marL="0" indent="0" algn="ctr">
              <a:buNone/>
            </a:pPr>
            <a:r>
              <a:rPr lang="en-US" sz="2000" b="1" dirty="0">
                <a:solidFill>
                  <a:srgbClr val="000000"/>
                </a:solidFill>
                <a:latin typeface="Calibri" pitchFamily="34" charset="0"/>
                <a:ea typeface="Calibri" pitchFamily="34" charset="-122"/>
                <a:cs typeface="Calibri" pitchFamily="34" charset="-120"/>
              </a:rPr>
              <a:t>DATABASE SYSTEMS ENGINEERING AND DISTRIBUTED BACKEND DEVELOPMENT</a:t>
            </a:r>
            <a:endParaRPr lang="en-US" sz="2000" dirty="0"/>
          </a:p>
        </p:txBody>
      </p:sp>
      <p:sp>
        <p:nvSpPr>
          <p:cNvPr id="6" name="Text 3"/>
          <p:cNvSpPr txBox="1"/>
          <p:nvPr/>
        </p:nvSpPr>
        <p:spPr>
          <a:xfrm>
            <a:off x="1097280" y="1417320"/>
            <a:ext cx="6949440" cy="365760"/>
          </a:xfrm>
          <a:prstGeom prst="rect">
            <a:avLst/>
          </a:prstGeom>
          <a:noFill/>
          <a:ln/>
        </p:spPr>
        <p:txBody>
          <a:bodyPr wrap="square" rtlCol="0" anchor="ctr"/>
          <a:lstStyle/>
          <a:p>
            <a:pPr marL="0" indent="0" algn="ctr">
              <a:buNone/>
            </a:pPr>
            <a:r>
              <a:rPr lang="en-US" sz="2200" b="1" dirty="0">
                <a:solidFill>
                  <a:srgbClr val="000000"/>
                </a:solidFill>
                <a:latin typeface="Calibri" pitchFamily="34" charset="0"/>
                <a:ea typeface="Calibri" pitchFamily="34" charset="-122"/>
                <a:cs typeface="Calibri" pitchFamily="34" charset="-120"/>
              </a:rPr>
              <a:t>(25CS1302E)</a:t>
            </a:r>
            <a:endParaRPr lang="en-US" sz="2200" dirty="0"/>
          </a:p>
        </p:txBody>
      </p:sp>
      <p:sp>
        <p:nvSpPr>
          <p:cNvPr id="7" name="Text 4"/>
          <p:cNvSpPr txBox="1"/>
          <p:nvPr/>
        </p:nvSpPr>
        <p:spPr>
          <a:xfrm>
            <a:off x="731520" y="1965960"/>
            <a:ext cx="7680960" cy="548640"/>
          </a:xfrm>
          <a:prstGeom prst="rect">
            <a:avLst/>
          </a:prstGeom>
          <a:noFill/>
          <a:ln/>
        </p:spPr>
        <p:txBody>
          <a:bodyPr wrap="square" rtlCol="0" anchor="ctr"/>
          <a:lstStyle/>
          <a:p>
            <a:pPr marL="0" indent="0" algn="ctr">
              <a:buNone/>
            </a:pPr>
            <a:r>
              <a:rPr lang="en-US" sz="2800" b="1" dirty="0">
                <a:solidFill>
                  <a:srgbClr val="000000"/>
                </a:solidFill>
                <a:latin typeface="Calibri" pitchFamily="34" charset="0"/>
                <a:ea typeface="Calibri" pitchFamily="34" charset="-122"/>
                <a:cs typeface="Calibri" pitchFamily="34" charset="-120"/>
              </a:rPr>
              <a:t>Vehicle Service Booking and Tracking System</a:t>
            </a:r>
            <a:endParaRPr lang="en-US" sz="2800" dirty="0"/>
          </a:p>
        </p:txBody>
      </p:sp>
      <p:sp>
        <p:nvSpPr>
          <p:cNvPr id="8" name="Text 5"/>
          <p:cNvSpPr txBox="1"/>
          <p:nvPr/>
        </p:nvSpPr>
        <p:spPr>
          <a:xfrm>
            <a:off x="1097280" y="2606040"/>
            <a:ext cx="6949440" cy="274320"/>
          </a:xfrm>
          <a:prstGeom prst="rect">
            <a:avLst/>
          </a:prstGeom>
          <a:noFill/>
          <a:ln/>
        </p:spPr>
        <p:txBody>
          <a:bodyPr wrap="square" rtlCol="0" anchor="ctr"/>
          <a:lstStyle/>
          <a:p>
            <a:pPr marL="0" indent="0" algn="ctr">
              <a:buNone/>
            </a:pPr>
            <a:r>
              <a:rPr lang="en-US" sz="1500" b="1" dirty="0">
                <a:solidFill>
                  <a:srgbClr val="000000"/>
                </a:solidFill>
                <a:latin typeface="Calibri" pitchFamily="34" charset="0"/>
                <a:ea typeface="Calibri" pitchFamily="34" charset="-122"/>
                <a:cs typeface="Calibri" pitchFamily="34" charset="-120"/>
              </a:rPr>
              <a:t>TEAM MEMBERS</a:t>
            </a:r>
            <a:endParaRPr lang="en-US" sz="1500" dirty="0"/>
          </a:p>
        </p:txBody>
      </p:sp>
      <p:sp>
        <p:nvSpPr>
          <p:cNvPr id="9" name="Text 6"/>
          <p:cNvSpPr txBox="1"/>
          <p:nvPr/>
        </p:nvSpPr>
        <p:spPr>
          <a:xfrm>
            <a:off x="1097280" y="2926080"/>
            <a:ext cx="6949440" cy="868680"/>
          </a:xfrm>
          <a:prstGeom prst="rect">
            <a:avLst/>
          </a:prstGeom>
          <a:noFill/>
          <a:ln/>
        </p:spPr>
        <p:txBody>
          <a:bodyPr wrap="square" rtlCol="0" anchor="ctr"/>
          <a:lstStyle/>
          <a:p>
            <a:pPr marL="0" indent="0" algn="ctr">
              <a:spcAft>
                <a:spcPts val="300"/>
              </a:spcAft>
              <a:buNone/>
            </a:pPr>
            <a:r>
              <a:rPr lang="en-US" sz="1400" dirty="0">
                <a:solidFill>
                  <a:srgbClr val="B5242F"/>
                </a:solidFill>
                <a:latin typeface="Calibri" pitchFamily="34" charset="0"/>
                <a:ea typeface="Calibri" pitchFamily="34" charset="-122"/>
                <a:cs typeface="Calibri" pitchFamily="34" charset="-120"/>
              </a:rPr>
              <a:t>M SHASHANTH 2520090129</a:t>
            </a:r>
            <a:endParaRPr lang="en-US" sz="1400" dirty="0"/>
          </a:p>
          <a:p>
            <a:pPr marL="0" indent="0" algn="ctr">
              <a:spcAft>
                <a:spcPts val="300"/>
              </a:spcAft>
              <a:buNone/>
            </a:pPr>
            <a:r>
              <a:rPr lang="en-US" sz="1400" dirty="0">
                <a:solidFill>
                  <a:srgbClr val="B5242F"/>
                </a:solidFill>
                <a:latin typeface="Calibri" pitchFamily="34" charset="0"/>
                <a:ea typeface="Calibri" pitchFamily="34" charset="-122"/>
                <a:cs typeface="Calibri" pitchFamily="34" charset="-120"/>
              </a:rPr>
              <a:t>M AKSHAY 2520090065</a:t>
            </a:r>
            <a:endParaRPr lang="en-US" sz="1400" dirty="0"/>
          </a:p>
          <a:p>
            <a:pPr marL="0" indent="0" algn="ctr">
              <a:spcAft>
                <a:spcPts val="300"/>
              </a:spcAft>
              <a:buNone/>
            </a:pPr>
            <a:r>
              <a:rPr lang="en-US" sz="1400" dirty="0">
                <a:solidFill>
                  <a:srgbClr val="B5242F"/>
                </a:solidFill>
                <a:latin typeface="Calibri" pitchFamily="34" charset="0"/>
                <a:ea typeface="Calibri" pitchFamily="34" charset="-122"/>
                <a:cs typeface="Calibri" pitchFamily="34" charset="-120"/>
              </a:rPr>
              <a:t>G NANDHA KISHORE 2520080050</a:t>
            </a:r>
            <a:endParaRPr lang="en-US" sz="1400" dirty="0"/>
          </a:p>
        </p:txBody>
      </p:sp>
      <p:sp>
        <p:nvSpPr>
          <p:cNvPr id="10" name="Text 7"/>
          <p:cNvSpPr txBox="1"/>
          <p:nvPr/>
        </p:nvSpPr>
        <p:spPr>
          <a:xfrm>
            <a:off x="1097280" y="3931920"/>
            <a:ext cx="6949440" cy="822960"/>
          </a:xfrm>
          <a:prstGeom prst="rect">
            <a:avLst/>
          </a:prstGeom>
          <a:noFill/>
          <a:ln/>
        </p:spPr>
        <p:txBody>
          <a:bodyPr wrap="square" rtlCol="0" anchor="ctr"/>
          <a:lstStyle/>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Under the Esteemed Guidance of</a:t>
            </a:r>
            <a:endParaRPr lang="en-US" sz="1400" dirty="0"/>
          </a:p>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Dr. M Gayatri</a:t>
            </a:r>
            <a:endParaRPr lang="en-US" sz="1400" dirty="0"/>
          </a:p>
          <a:p>
            <a:pPr marL="0" indent="0" algn="ctr">
              <a:buNone/>
            </a:pPr>
            <a:r>
              <a:rPr lang="en-US" sz="1400" dirty="0">
                <a:solidFill>
                  <a:srgbClr val="000000"/>
                </a:solidFill>
                <a:latin typeface="Times New Roman" pitchFamily="34" charset="0"/>
                <a:ea typeface="Times New Roman" pitchFamily="34" charset="-122"/>
                <a:cs typeface="Times New Roman" pitchFamily="34" charset="-120"/>
              </a:rPr>
              <a:t>Associate Professor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Abstract</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0" indent="0">
              <a:buNone/>
            </a:pPr>
            <a:r>
              <a:rPr lang="en-US" sz="1600" dirty="0">
                <a:solidFill>
                  <a:srgbClr val="000000"/>
                </a:solidFill>
                <a:latin typeface="Calibri" pitchFamily="34" charset="0"/>
                <a:ea typeface="Calibri" pitchFamily="34" charset="-122"/>
                <a:cs typeface="Calibri" pitchFamily="34" charset="-120"/>
              </a:rPr>
              <a:t>The Vehicle Service Booking and Tracking System is a web-based platform that digitises the complete vehicle servicing process of a service center. Customers register vehicles, book services and track progress online, while service centers manage bookings, job cards, technician allocation and spare parts.</a:t>
            </a:r>
            <a:endParaRPr lang="en-US" sz="1600" dirty="0"/>
          </a:p>
          <a:p>
            <a:pPr marL="0" indent="0">
              <a:buNone/>
            </a:pPr>
            <a:endParaRPr lang="en-US" sz="1600" dirty="0"/>
          </a:p>
          <a:p>
            <a:pPr marL="0" indent="0">
              <a:buNone/>
            </a:pPr>
            <a:r>
              <a:rPr lang="en-US" sz="1600" dirty="0">
                <a:solidFill>
                  <a:srgbClr val="000000"/>
                </a:solidFill>
                <a:latin typeface="Calibri" pitchFamily="34" charset="0"/>
                <a:ea typeface="Calibri" pitchFamily="34" charset="-122"/>
                <a:cs typeface="Calibri" pitchFamily="34" charset="-120"/>
              </a:rPr>
              <a:t>The system generates digital invoices, maintains complete service history, and supports notifications and online payments. It is built with React.js, Node.js, Express.js and MySQL, with Razorpay and Firebase Cloud Messaging as integrations. The goal is to reduce manual work and improve service visibility and efficiency.</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Problem Statement</a:t>
            </a:r>
            <a:endParaRPr lang="en-US" sz="2200" dirty="0"/>
          </a:p>
        </p:txBody>
      </p:sp>
      <p:sp>
        <p:nvSpPr>
          <p:cNvPr id="7" name="Text 4"/>
          <p:cNvSpPr txBox="1"/>
          <p:nvPr/>
        </p:nvSpPr>
        <p:spPr>
          <a:xfrm>
            <a:off x="548640" y="960120"/>
            <a:ext cx="8046720" cy="365760"/>
          </a:xfrm>
          <a:prstGeom prst="rect">
            <a:avLst/>
          </a:prstGeom>
          <a:noFill/>
          <a:ln/>
        </p:spPr>
        <p:txBody>
          <a:bodyPr wrap="square" rtlCol="0" anchor="t"/>
          <a:lstStyle/>
          <a:p>
            <a:pPr marL="0" indent="0">
              <a:buNone/>
            </a:pPr>
            <a:r>
              <a:rPr lang="en-US" sz="1800" b="1" dirty="0">
                <a:solidFill>
                  <a:srgbClr val="000000"/>
                </a:solidFill>
                <a:latin typeface="Calibri" pitchFamily="34" charset="0"/>
                <a:ea typeface="Calibri" pitchFamily="34" charset="-122"/>
                <a:cs typeface="Calibri" pitchFamily="34" charset="-120"/>
              </a:rPr>
              <a:t>PROBLEM STATEMENT:</a:t>
            </a:r>
            <a:endParaRPr lang="en-US" sz="1800" dirty="0"/>
          </a:p>
        </p:txBody>
      </p:sp>
      <p:sp>
        <p:nvSpPr>
          <p:cNvPr id="8" name="Text 5"/>
          <p:cNvSpPr txBox="1"/>
          <p:nvPr/>
        </p:nvSpPr>
        <p:spPr>
          <a:xfrm>
            <a:off x="548640" y="1371600"/>
            <a:ext cx="8046720" cy="3474720"/>
          </a:xfrm>
          <a:prstGeom prst="rect">
            <a:avLst/>
          </a:prstGeom>
          <a:noFill/>
          <a:ln/>
        </p:spPr>
        <p:txBody>
          <a:bodyPr wrap="square" rtlCol="0" anchor="t"/>
          <a:lstStyle/>
          <a:p>
            <a:pPr marL="0" indent="0">
              <a:buNone/>
            </a:pPr>
            <a:r>
              <a:rPr lang="en-US" sz="1600" dirty="0">
                <a:solidFill>
                  <a:srgbClr val="000000"/>
                </a:solidFill>
                <a:latin typeface="Calibri" pitchFamily="34" charset="0"/>
                <a:ea typeface="Calibri" pitchFamily="34" charset="-122"/>
                <a:cs typeface="Calibri" pitchFamily="34" charset="-120"/>
              </a:rPr>
              <a:t>Vehicle service centers still depend on phone calls, walk-ins, paper job cards and manual billing. Customers cannot see the status of their vehicle, service history is hard to retrieve, and centers struggle to allocate technicians and track spare parts.</a:t>
            </a:r>
            <a:endParaRPr lang="en-US" sz="1600" dirty="0"/>
          </a:p>
          <a:p>
            <a:pPr marL="0" indent="0">
              <a:buNone/>
            </a:pPr>
            <a:endParaRPr lang="en-US" sz="1600" dirty="0"/>
          </a:p>
          <a:p>
            <a:pPr marL="0" indent="0">
              <a:buNone/>
            </a:pPr>
            <a:r>
              <a:rPr lang="en-US" sz="1600" dirty="0">
                <a:solidFill>
                  <a:srgbClr val="000000"/>
                </a:solidFill>
                <a:latin typeface="Calibri" pitchFamily="34" charset="0"/>
                <a:ea typeface="Calibri" pitchFamily="34" charset="-122"/>
                <a:cs typeface="Calibri" pitchFamily="34" charset="-120"/>
              </a:rPr>
              <a:t>The proposed system provides one centralized platform where customers book and track services, and service centers manage job cards, technicians, parts, invoices and payments, all backed by a normalized relational database.</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Motivation</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Manual booking and paper records are slow, error-prone and hard to maintain.</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Customers get little or delayed information about their vehicle status.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Technician workload and spare-part stock are difficult to manage manually.</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Paper-based billing causes delays and disputes.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A database-driven design gives consistent, secure and queryable service records.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The project applies relational design, SQL, REST APIs and secure backend engineering from the course to a real-world problem.</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Objectives</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To develop a web application for vehicle service booking and tracking.</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To let customers register vehicles, book services and view service history.</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To manage job cards, technician allocation and service status updates.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To design a normalized MySQL schema (ER model, 3NF) with constraints and indexes.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To build a secure REST backend with JWT, role-based access control and validation.</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To generate digital invoices and support online payments and notifications.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To reduce manual work and improve service visibility for all users.</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Literature Survey</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0" indent="0">
              <a:buNone/>
            </a:pPr>
            <a:r>
              <a:rPr lang="en-US" sz="1500" dirty="0">
                <a:solidFill>
                  <a:srgbClr val="000000"/>
                </a:solidFill>
                <a:latin typeface="Calibri" pitchFamily="34" charset="0"/>
                <a:ea typeface="Calibri" pitchFamily="34" charset="-122"/>
                <a:cs typeface="Calibri" pitchFamily="34" charset="-120"/>
              </a:rPr>
              <a:t>Existing garage and workshop management tools mostly offer appointment forms and basic billing. Many are desktop-based or paper-assisted and give customers limited visibility into progress.</a:t>
            </a:r>
            <a:endParaRPr lang="en-US" sz="1500" dirty="0"/>
          </a:p>
          <a:p>
            <a:pPr marL="0" indent="0">
              <a:buNone/>
            </a:pPr>
            <a:endParaRPr lang="en-US" sz="1500" dirty="0"/>
          </a:p>
          <a:p>
            <a:pPr marL="0" indent="0">
              <a:buNone/>
            </a:pPr>
            <a:r>
              <a:rPr lang="en-US" sz="1500" dirty="0">
                <a:solidFill>
                  <a:srgbClr val="000000"/>
                </a:solidFill>
                <a:latin typeface="Calibri" pitchFamily="34" charset="0"/>
                <a:ea typeface="Calibri" pitchFamily="34" charset="-122"/>
                <a:cs typeface="Calibri" pitchFamily="34" charset="-120"/>
              </a:rPr>
              <a:t>Commercial automobile-service platforms provide online booking and reminders, but are often closed, costly or not customised to small service centers. Academic work on service management systems highlights the value of centralized databases, job-card digitisation and status tracking.</a:t>
            </a:r>
            <a:endParaRPr lang="en-US" sz="1500" dirty="0"/>
          </a:p>
          <a:p>
            <a:pPr marL="0" indent="0">
              <a:buNone/>
            </a:pPr>
            <a:endParaRPr lang="en-US" sz="1500" dirty="0"/>
          </a:p>
          <a:p>
            <a:pPr marL="0" indent="0">
              <a:buNone/>
            </a:pPr>
            <a:r>
              <a:rPr lang="en-US" sz="1500" dirty="0">
                <a:solidFill>
                  <a:srgbClr val="000000"/>
                </a:solidFill>
                <a:latin typeface="Calibri" pitchFamily="34" charset="0"/>
                <a:ea typeface="Calibri" pitchFamily="34" charset="-122"/>
                <a:cs typeface="Calibri" pitchFamily="34" charset="-120"/>
              </a:rPr>
              <a:t>Modern web stacks (React.js, Node.js/Express, MySQL) with payment gateways (Razorpay) and push notifications (FCM) make it practical to combine booking, tracking, parts, invoicing and payment in one system.</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Research Gap</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0" indent="0">
              <a:buNone/>
            </a:pPr>
            <a:r>
              <a:rPr lang="en-US" sz="1600" dirty="0">
                <a:solidFill>
                  <a:srgbClr val="000000"/>
                </a:solidFill>
                <a:latin typeface="Calibri" pitchFamily="34" charset="0"/>
                <a:ea typeface="Calibri" pitchFamily="34" charset="-122"/>
                <a:cs typeface="Calibri" pitchFamily="34" charset="-120"/>
              </a:rPr>
              <a:t>Existing systems often handle only one part of the workflow, such as booking or billing. Many lack integrated job-card management, technician allocation, spare-part tracking, live service status, digital invoicing and online payment in a single platform.</a:t>
            </a:r>
            <a:endParaRPr lang="en-US" sz="1600" dirty="0"/>
          </a:p>
          <a:p>
            <a:pPr marL="0" indent="0">
              <a:buNone/>
            </a:pPr>
            <a:endParaRPr lang="en-US" sz="1600" dirty="0"/>
          </a:p>
          <a:p>
            <a:pPr marL="0" indent="0">
              <a:buNone/>
            </a:pPr>
            <a:r>
              <a:rPr lang="en-US" sz="1600" dirty="0">
                <a:solidFill>
                  <a:srgbClr val="000000"/>
                </a:solidFill>
                <a:latin typeface="Calibri" pitchFamily="34" charset="0"/>
                <a:ea typeface="Calibri" pitchFamily="34" charset="-122"/>
                <a:cs typeface="Calibri" pitchFamily="34" charset="-120"/>
              </a:rPr>
              <a:t>Few solutions are built on a properly normalized relational schema with secure role-based APIs that can later grow into microservices.</a:t>
            </a:r>
            <a:endParaRPr lang="en-US" sz="1600" dirty="0"/>
          </a:p>
          <a:p>
            <a:pPr marL="0" indent="0">
              <a:buNone/>
            </a:pPr>
            <a:endParaRPr lang="en-US" sz="1600" dirty="0"/>
          </a:p>
          <a:p>
            <a:pPr marL="0" indent="0">
              <a:buNone/>
            </a:pPr>
            <a:r>
              <a:rPr lang="en-US" sz="1600" dirty="0">
                <a:solidFill>
                  <a:srgbClr val="000000"/>
                </a:solidFill>
                <a:latin typeface="Calibri" pitchFamily="34" charset="0"/>
                <a:ea typeface="Calibri" pitchFamily="34" charset="-122"/>
                <a:cs typeface="Calibri" pitchFamily="34" charset="-120"/>
              </a:rPr>
              <a:t>Therefore, the proposed system provides an end-to-end, database-driven workflow from booking to payment, making vehicle servicing faster, more transparent and easier to manage.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Proposed Methodology</a:t>
            </a:r>
            <a:endParaRPr lang="en-US" sz="2200" dirty="0"/>
          </a:p>
        </p:txBody>
      </p:sp>
      <p:sp>
        <p:nvSpPr>
          <p:cNvPr id="7" name="Shape 4"/>
          <p:cNvSpPr/>
          <p:nvPr/>
        </p:nvSpPr>
        <p:spPr>
          <a:xfrm>
            <a:off x="411480" y="1097280"/>
            <a:ext cx="1645920" cy="548640"/>
          </a:xfrm>
          <a:prstGeom prst="roundRect">
            <a:avLst>
              <a:gd name="adj" fmla="val 13333"/>
            </a:avLst>
          </a:prstGeom>
          <a:solidFill>
            <a:srgbClr val="C00000"/>
          </a:solidFill>
          <a:ln w="12700">
            <a:solidFill>
              <a:srgbClr val="C00000"/>
            </a:solidFill>
            <a:prstDash val="solid"/>
          </a:ln>
        </p:spPr>
      </p:sp>
      <p:sp>
        <p:nvSpPr>
          <p:cNvPr id="8" name="Text 5"/>
          <p:cNvSpPr txBox="1"/>
          <p:nvPr/>
        </p:nvSpPr>
        <p:spPr>
          <a:xfrm>
            <a:off x="411480" y="1097280"/>
            <a:ext cx="1645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Customer</a:t>
            </a:r>
            <a:endParaRPr lang="en-US" sz="1500" dirty="0"/>
          </a:p>
        </p:txBody>
      </p:sp>
      <p:sp>
        <p:nvSpPr>
          <p:cNvPr id="9" name="Text 6"/>
          <p:cNvSpPr txBox="1"/>
          <p:nvPr/>
        </p:nvSpPr>
        <p:spPr>
          <a:xfrm>
            <a:off x="2057400" y="1097280"/>
            <a:ext cx="457200" cy="54864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2514600" y="1097280"/>
            <a:ext cx="1645920" cy="548640"/>
          </a:xfrm>
          <a:prstGeom prst="roundRect">
            <a:avLst>
              <a:gd name="adj" fmla="val 13333"/>
            </a:avLst>
          </a:prstGeom>
          <a:solidFill>
            <a:srgbClr val="C00000"/>
          </a:solidFill>
          <a:ln w="12700">
            <a:solidFill>
              <a:srgbClr val="C00000"/>
            </a:solidFill>
            <a:prstDash val="solid"/>
          </a:ln>
        </p:spPr>
      </p:sp>
      <p:sp>
        <p:nvSpPr>
          <p:cNvPr id="11" name="Text 8"/>
          <p:cNvSpPr txBox="1"/>
          <p:nvPr/>
        </p:nvSpPr>
        <p:spPr>
          <a:xfrm>
            <a:off x="2514600" y="1097280"/>
            <a:ext cx="1645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Vehicle</a:t>
            </a:r>
            <a:endParaRPr lang="en-US" sz="1500" dirty="0"/>
          </a:p>
        </p:txBody>
      </p:sp>
      <p:sp>
        <p:nvSpPr>
          <p:cNvPr id="12" name="Text 9"/>
          <p:cNvSpPr txBox="1"/>
          <p:nvPr/>
        </p:nvSpPr>
        <p:spPr>
          <a:xfrm>
            <a:off x="4160520" y="1097280"/>
            <a:ext cx="457200" cy="54864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13" name="Shape 10"/>
          <p:cNvSpPr/>
          <p:nvPr/>
        </p:nvSpPr>
        <p:spPr>
          <a:xfrm>
            <a:off x="4617720" y="1097280"/>
            <a:ext cx="1645920" cy="548640"/>
          </a:xfrm>
          <a:prstGeom prst="roundRect">
            <a:avLst>
              <a:gd name="adj" fmla="val 13333"/>
            </a:avLst>
          </a:prstGeom>
          <a:solidFill>
            <a:srgbClr val="C00000"/>
          </a:solidFill>
          <a:ln w="12700">
            <a:solidFill>
              <a:srgbClr val="C00000"/>
            </a:solidFill>
            <a:prstDash val="solid"/>
          </a:ln>
        </p:spPr>
      </p:sp>
      <p:sp>
        <p:nvSpPr>
          <p:cNvPr id="14" name="Text 11"/>
          <p:cNvSpPr txBox="1"/>
          <p:nvPr/>
        </p:nvSpPr>
        <p:spPr>
          <a:xfrm>
            <a:off x="4617720" y="1097280"/>
            <a:ext cx="1645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Booking</a:t>
            </a:r>
            <a:endParaRPr lang="en-US" sz="1500" dirty="0"/>
          </a:p>
        </p:txBody>
      </p:sp>
      <p:sp>
        <p:nvSpPr>
          <p:cNvPr id="15" name="Text 12"/>
          <p:cNvSpPr txBox="1"/>
          <p:nvPr/>
        </p:nvSpPr>
        <p:spPr>
          <a:xfrm>
            <a:off x="6263640" y="1097280"/>
            <a:ext cx="457200" cy="54864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16" name="Shape 13"/>
          <p:cNvSpPr/>
          <p:nvPr/>
        </p:nvSpPr>
        <p:spPr>
          <a:xfrm>
            <a:off x="6720840" y="1097280"/>
            <a:ext cx="1645920" cy="548640"/>
          </a:xfrm>
          <a:prstGeom prst="roundRect">
            <a:avLst>
              <a:gd name="adj" fmla="val 13333"/>
            </a:avLst>
          </a:prstGeom>
          <a:solidFill>
            <a:srgbClr val="C00000"/>
          </a:solidFill>
          <a:ln w="12700">
            <a:solidFill>
              <a:srgbClr val="C00000"/>
            </a:solidFill>
            <a:prstDash val="solid"/>
          </a:ln>
        </p:spPr>
      </p:sp>
      <p:sp>
        <p:nvSpPr>
          <p:cNvPr id="17" name="Text 14"/>
          <p:cNvSpPr txBox="1"/>
          <p:nvPr/>
        </p:nvSpPr>
        <p:spPr>
          <a:xfrm>
            <a:off x="6720840" y="1097280"/>
            <a:ext cx="1645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Job Card</a:t>
            </a:r>
            <a:endParaRPr lang="en-US" sz="1500" dirty="0"/>
          </a:p>
        </p:txBody>
      </p:sp>
      <p:sp>
        <p:nvSpPr>
          <p:cNvPr id="18" name="Shape 15"/>
          <p:cNvSpPr/>
          <p:nvPr/>
        </p:nvSpPr>
        <p:spPr>
          <a:xfrm>
            <a:off x="411480" y="2148840"/>
            <a:ext cx="1645920" cy="548640"/>
          </a:xfrm>
          <a:prstGeom prst="roundRect">
            <a:avLst>
              <a:gd name="adj" fmla="val 13333"/>
            </a:avLst>
          </a:prstGeom>
          <a:solidFill>
            <a:srgbClr val="C00000"/>
          </a:solidFill>
          <a:ln w="12700">
            <a:solidFill>
              <a:srgbClr val="C00000"/>
            </a:solidFill>
            <a:prstDash val="solid"/>
          </a:ln>
        </p:spPr>
      </p:sp>
      <p:sp>
        <p:nvSpPr>
          <p:cNvPr id="19" name="Text 16"/>
          <p:cNvSpPr txBox="1"/>
          <p:nvPr/>
        </p:nvSpPr>
        <p:spPr>
          <a:xfrm>
            <a:off x="411480" y="2148840"/>
            <a:ext cx="1645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Technician</a:t>
            </a:r>
            <a:endParaRPr lang="en-US" sz="1500" dirty="0"/>
          </a:p>
        </p:txBody>
      </p:sp>
      <p:sp>
        <p:nvSpPr>
          <p:cNvPr id="20" name="Text 17"/>
          <p:cNvSpPr txBox="1"/>
          <p:nvPr/>
        </p:nvSpPr>
        <p:spPr>
          <a:xfrm>
            <a:off x="2057400" y="2148840"/>
            <a:ext cx="457200" cy="54864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21" name="Shape 18"/>
          <p:cNvSpPr/>
          <p:nvPr/>
        </p:nvSpPr>
        <p:spPr>
          <a:xfrm>
            <a:off x="2514600" y="2148840"/>
            <a:ext cx="1645920" cy="548640"/>
          </a:xfrm>
          <a:prstGeom prst="roundRect">
            <a:avLst>
              <a:gd name="adj" fmla="val 13333"/>
            </a:avLst>
          </a:prstGeom>
          <a:solidFill>
            <a:srgbClr val="C00000"/>
          </a:solidFill>
          <a:ln w="12700">
            <a:solidFill>
              <a:srgbClr val="C00000"/>
            </a:solidFill>
            <a:prstDash val="solid"/>
          </a:ln>
        </p:spPr>
      </p:sp>
      <p:sp>
        <p:nvSpPr>
          <p:cNvPr id="22" name="Text 19"/>
          <p:cNvSpPr txBox="1"/>
          <p:nvPr/>
        </p:nvSpPr>
        <p:spPr>
          <a:xfrm>
            <a:off x="2514600" y="2148840"/>
            <a:ext cx="1645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Service</a:t>
            </a:r>
            <a:endParaRPr lang="en-US" sz="1500" dirty="0"/>
          </a:p>
        </p:txBody>
      </p:sp>
      <p:sp>
        <p:nvSpPr>
          <p:cNvPr id="23" name="Text 20"/>
          <p:cNvSpPr txBox="1"/>
          <p:nvPr/>
        </p:nvSpPr>
        <p:spPr>
          <a:xfrm>
            <a:off x="4160520" y="2148840"/>
            <a:ext cx="457200" cy="54864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24" name="Shape 21"/>
          <p:cNvSpPr/>
          <p:nvPr/>
        </p:nvSpPr>
        <p:spPr>
          <a:xfrm>
            <a:off x="4617720" y="2148840"/>
            <a:ext cx="1645920" cy="548640"/>
          </a:xfrm>
          <a:prstGeom prst="roundRect">
            <a:avLst>
              <a:gd name="adj" fmla="val 13333"/>
            </a:avLst>
          </a:prstGeom>
          <a:solidFill>
            <a:srgbClr val="C00000"/>
          </a:solidFill>
          <a:ln w="12700">
            <a:solidFill>
              <a:srgbClr val="C00000"/>
            </a:solidFill>
            <a:prstDash val="solid"/>
          </a:ln>
        </p:spPr>
      </p:sp>
      <p:sp>
        <p:nvSpPr>
          <p:cNvPr id="25" name="Text 22"/>
          <p:cNvSpPr txBox="1"/>
          <p:nvPr/>
        </p:nvSpPr>
        <p:spPr>
          <a:xfrm>
            <a:off x="4617720" y="2148840"/>
            <a:ext cx="1645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Invoice</a:t>
            </a:r>
            <a:endParaRPr lang="en-US" sz="1500" dirty="0"/>
          </a:p>
        </p:txBody>
      </p:sp>
      <p:sp>
        <p:nvSpPr>
          <p:cNvPr id="26" name="Text 23"/>
          <p:cNvSpPr txBox="1"/>
          <p:nvPr/>
        </p:nvSpPr>
        <p:spPr>
          <a:xfrm>
            <a:off x="6263640" y="2148840"/>
            <a:ext cx="457200" cy="54864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27" name="Shape 24"/>
          <p:cNvSpPr/>
          <p:nvPr/>
        </p:nvSpPr>
        <p:spPr>
          <a:xfrm>
            <a:off x="6720840" y="2148840"/>
            <a:ext cx="1645920" cy="548640"/>
          </a:xfrm>
          <a:prstGeom prst="roundRect">
            <a:avLst>
              <a:gd name="adj" fmla="val 13333"/>
            </a:avLst>
          </a:prstGeom>
          <a:solidFill>
            <a:srgbClr val="C00000"/>
          </a:solidFill>
          <a:ln w="12700">
            <a:solidFill>
              <a:srgbClr val="C00000"/>
            </a:solidFill>
            <a:prstDash val="solid"/>
          </a:ln>
        </p:spPr>
      </p:sp>
      <p:sp>
        <p:nvSpPr>
          <p:cNvPr id="28" name="Text 25"/>
          <p:cNvSpPr txBox="1"/>
          <p:nvPr/>
        </p:nvSpPr>
        <p:spPr>
          <a:xfrm>
            <a:off x="6720840" y="2148840"/>
            <a:ext cx="1645920" cy="54864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Payment</a:t>
            </a:r>
            <a:endParaRPr lang="en-US" sz="1500" dirty="0"/>
          </a:p>
        </p:txBody>
      </p:sp>
      <p:sp>
        <p:nvSpPr>
          <p:cNvPr id="29" name="Text 26"/>
          <p:cNvSpPr txBox="1"/>
          <p:nvPr/>
        </p:nvSpPr>
        <p:spPr>
          <a:xfrm>
            <a:off x="548640" y="3246120"/>
            <a:ext cx="8046720" cy="164592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Users register and log in; the backend verifies credentials and issues a JWT.</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Customers add vehicles and book a service; the center creates a job card and assigns a technician.</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Status updates, spare parts used and the final invoice are stored in MySQL; payment is done via Razorpay and notifications are sent via FCM.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System Architecture</a:t>
            </a:r>
            <a:endParaRPr lang="en-US" sz="2200" dirty="0"/>
          </a:p>
        </p:txBody>
      </p:sp>
      <p:sp>
        <p:nvSpPr>
          <p:cNvPr id="7" name="Shape 4"/>
          <p:cNvSpPr/>
          <p:nvPr/>
        </p:nvSpPr>
        <p:spPr>
          <a:xfrm>
            <a:off x="1097280" y="960120"/>
            <a:ext cx="5120640" cy="566928"/>
          </a:xfrm>
          <a:prstGeom prst="roundRect">
            <a:avLst>
              <a:gd name="adj" fmla="val 9677"/>
            </a:avLst>
          </a:prstGeom>
          <a:solidFill>
            <a:srgbClr val="C00000"/>
          </a:solidFill>
          <a:ln w="12700">
            <a:solidFill>
              <a:srgbClr val="C00000"/>
            </a:solidFill>
            <a:prstDash val="solid"/>
          </a:ln>
        </p:spPr>
      </p:sp>
      <p:sp>
        <p:nvSpPr>
          <p:cNvPr id="8" name="Text 5"/>
          <p:cNvSpPr txBox="1"/>
          <p:nvPr/>
        </p:nvSpPr>
        <p:spPr>
          <a:xfrm>
            <a:off x="1097280" y="960120"/>
            <a:ext cx="5120640" cy="566928"/>
          </a:xfrm>
          <a:prstGeom prst="rect">
            <a:avLst/>
          </a:prstGeom>
          <a:noFill/>
          <a:ln/>
        </p:spPr>
        <p:txBody>
          <a:bodyPr wrap="square" lIns="635" tIns="635" rIns="635" bIns="635"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React.js Frontend (Customer / Service Center UI)</a:t>
            </a:r>
            <a:endParaRPr lang="en-US" sz="1400" dirty="0"/>
          </a:p>
        </p:txBody>
      </p:sp>
      <p:sp>
        <p:nvSpPr>
          <p:cNvPr id="9" name="Text 6"/>
          <p:cNvSpPr txBox="1"/>
          <p:nvPr/>
        </p:nvSpPr>
        <p:spPr>
          <a:xfrm>
            <a:off x="3291840" y="1508760"/>
            <a:ext cx="731520" cy="301752"/>
          </a:xfrm>
          <a:prstGeom prst="rect">
            <a:avLst/>
          </a:prstGeom>
          <a:noFill/>
          <a:ln/>
        </p:spPr>
        <p:txBody>
          <a:bodyPr wrap="square" lIns="0" tIns="0" rIns="0" bIns="0" rtlCol="0" anchor="ctr"/>
          <a:lstStyle/>
          <a:p>
            <a:pPr marL="0" indent="0" algn="ctr">
              <a:buNone/>
            </a:pPr>
            <a:r>
              <a:rPr lang="en-US" sz="1800" b="1" dirty="0">
                <a:solidFill>
                  <a:srgbClr val="C00000"/>
                </a:solidFill>
                <a:latin typeface="Calibri" pitchFamily="34" charset="0"/>
                <a:ea typeface="Calibri" pitchFamily="34" charset="-122"/>
                <a:cs typeface="Calibri" pitchFamily="34" charset="-120"/>
              </a:rPr>
              <a:t>↓</a:t>
            </a:r>
            <a:endParaRPr lang="en-US" sz="1800" dirty="0"/>
          </a:p>
        </p:txBody>
      </p:sp>
      <p:sp>
        <p:nvSpPr>
          <p:cNvPr id="10" name="Shape 7"/>
          <p:cNvSpPr/>
          <p:nvPr/>
        </p:nvSpPr>
        <p:spPr>
          <a:xfrm>
            <a:off x="1097280" y="1828800"/>
            <a:ext cx="5120640" cy="566928"/>
          </a:xfrm>
          <a:prstGeom prst="roundRect">
            <a:avLst>
              <a:gd name="adj" fmla="val 9677"/>
            </a:avLst>
          </a:prstGeom>
          <a:solidFill>
            <a:srgbClr val="C00000"/>
          </a:solidFill>
          <a:ln w="12700">
            <a:solidFill>
              <a:srgbClr val="C00000"/>
            </a:solidFill>
            <a:prstDash val="solid"/>
          </a:ln>
        </p:spPr>
      </p:sp>
      <p:sp>
        <p:nvSpPr>
          <p:cNvPr id="11" name="Text 8"/>
          <p:cNvSpPr txBox="1"/>
          <p:nvPr/>
        </p:nvSpPr>
        <p:spPr>
          <a:xfrm>
            <a:off x="1097280" y="1828800"/>
            <a:ext cx="5120640" cy="566928"/>
          </a:xfrm>
          <a:prstGeom prst="rect">
            <a:avLst/>
          </a:prstGeom>
          <a:noFill/>
          <a:ln/>
        </p:spPr>
        <p:txBody>
          <a:bodyPr wrap="square" lIns="635" tIns="635" rIns="635" bIns="635"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Node.js + Express.js (Router → Middleware → Controller → Service Layer)</a:t>
            </a:r>
            <a:endParaRPr lang="en-US" sz="1400" dirty="0"/>
          </a:p>
        </p:txBody>
      </p:sp>
      <p:sp>
        <p:nvSpPr>
          <p:cNvPr id="12" name="Text 9"/>
          <p:cNvSpPr txBox="1"/>
          <p:nvPr/>
        </p:nvSpPr>
        <p:spPr>
          <a:xfrm>
            <a:off x="3291840" y="2377440"/>
            <a:ext cx="731520" cy="301752"/>
          </a:xfrm>
          <a:prstGeom prst="rect">
            <a:avLst/>
          </a:prstGeom>
          <a:noFill/>
          <a:ln/>
        </p:spPr>
        <p:txBody>
          <a:bodyPr wrap="square" lIns="0" tIns="0" rIns="0" bIns="0" rtlCol="0" anchor="ctr"/>
          <a:lstStyle/>
          <a:p>
            <a:pPr marL="0" indent="0" algn="ctr">
              <a:buNone/>
            </a:pPr>
            <a:r>
              <a:rPr lang="en-US" sz="1800" b="1" dirty="0">
                <a:solidFill>
                  <a:srgbClr val="C00000"/>
                </a:solidFill>
                <a:latin typeface="Calibri" pitchFamily="34" charset="0"/>
                <a:ea typeface="Calibri" pitchFamily="34" charset="-122"/>
                <a:cs typeface="Calibri" pitchFamily="34" charset="-120"/>
              </a:rPr>
              <a:t>↓</a:t>
            </a:r>
            <a:endParaRPr lang="en-US" sz="1800" dirty="0"/>
          </a:p>
        </p:txBody>
      </p:sp>
      <p:sp>
        <p:nvSpPr>
          <p:cNvPr id="13" name="Shape 10"/>
          <p:cNvSpPr/>
          <p:nvPr/>
        </p:nvSpPr>
        <p:spPr>
          <a:xfrm>
            <a:off x="1097280" y="2697480"/>
            <a:ext cx="5120640" cy="566928"/>
          </a:xfrm>
          <a:prstGeom prst="roundRect">
            <a:avLst>
              <a:gd name="adj" fmla="val 9677"/>
            </a:avLst>
          </a:prstGeom>
          <a:solidFill>
            <a:srgbClr val="C00000"/>
          </a:solidFill>
          <a:ln w="12700">
            <a:solidFill>
              <a:srgbClr val="C00000"/>
            </a:solidFill>
            <a:prstDash val="solid"/>
          </a:ln>
        </p:spPr>
      </p:sp>
      <p:sp>
        <p:nvSpPr>
          <p:cNvPr id="14" name="Text 11"/>
          <p:cNvSpPr txBox="1"/>
          <p:nvPr/>
        </p:nvSpPr>
        <p:spPr>
          <a:xfrm>
            <a:off x="1097280" y="2697480"/>
            <a:ext cx="5120640" cy="566928"/>
          </a:xfrm>
          <a:prstGeom prst="rect">
            <a:avLst/>
          </a:prstGeom>
          <a:noFill/>
          <a:ln/>
        </p:spPr>
        <p:txBody>
          <a:bodyPr wrap="square" lIns="635" tIns="635" rIns="635" bIns="635"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REST APIs  (Auth, Vehicles, Bookings, Invoices, Payments)</a:t>
            </a:r>
            <a:endParaRPr lang="en-US" sz="1400" dirty="0"/>
          </a:p>
        </p:txBody>
      </p:sp>
      <p:sp>
        <p:nvSpPr>
          <p:cNvPr id="15" name="Text 12"/>
          <p:cNvSpPr txBox="1"/>
          <p:nvPr/>
        </p:nvSpPr>
        <p:spPr>
          <a:xfrm>
            <a:off x="3291840" y="3246120"/>
            <a:ext cx="731520" cy="301752"/>
          </a:xfrm>
          <a:prstGeom prst="rect">
            <a:avLst/>
          </a:prstGeom>
          <a:noFill/>
          <a:ln/>
        </p:spPr>
        <p:txBody>
          <a:bodyPr wrap="square" lIns="0" tIns="0" rIns="0" bIns="0" rtlCol="0" anchor="ctr"/>
          <a:lstStyle/>
          <a:p>
            <a:pPr marL="0" indent="0" algn="ctr">
              <a:buNone/>
            </a:pPr>
            <a:r>
              <a:rPr lang="en-US" sz="1800" b="1" dirty="0">
                <a:solidFill>
                  <a:srgbClr val="C00000"/>
                </a:solidFill>
                <a:latin typeface="Calibri" pitchFamily="34" charset="0"/>
                <a:ea typeface="Calibri" pitchFamily="34" charset="-122"/>
                <a:cs typeface="Calibri" pitchFamily="34" charset="-120"/>
              </a:rPr>
              <a:t>↓</a:t>
            </a:r>
            <a:endParaRPr lang="en-US" sz="1800" dirty="0"/>
          </a:p>
        </p:txBody>
      </p:sp>
      <p:sp>
        <p:nvSpPr>
          <p:cNvPr id="16" name="Shape 13"/>
          <p:cNvSpPr/>
          <p:nvPr/>
        </p:nvSpPr>
        <p:spPr>
          <a:xfrm>
            <a:off x="1097280" y="3566160"/>
            <a:ext cx="5120640" cy="566928"/>
          </a:xfrm>
          <a:prstGeom prst="roundRect">
            <a:avLst>
              <a:gd name="adj" fmla="val 9677"/>
            </a:avLst>
          </a:prstGeom>
          <a:solidFill>
            <a:srgbClr val="7A0000"/>
          </a:solidFill>
          <a:ln w="12700">
            <a:solidFill>
              <a:srgbClr val="C00000"/>
            </a:solidFill>
            <a:prstDash val="solid"/>
          </a:ln>
        </p:spPr>
      </p:sp>
      <p:sp>
        <p:nvSpPr>
          <p:cNvPr id="17" name="Text 14"/>
          <p:cNvSpPr txBox="1"/>
          <p:nvPr/>
        </p:nvSpPr>
        <p:spPr>
          <a:xfrm>
            <a:off x="1097280" y="3566160"/>
            <a:ext cx="5120640" cy="566928"/>
          </a:xfrm>
          <a:prstGeom prst="rect">
            <a:avLst/>
          </a:prstGeom>
          <a:noFill/>
          <a:ln/>
        </p:spPr>
        <p:txBody>
          <a:bodyPr wrap="square" lIns="635" tIns="635" rIns="635" bIns="635"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MySQL Database</a:t>
            </a:r>
            <a:endParaRPr lang="en-US" sz="1400" dirty="0"/>
          </a:p>
        </p:txBody>
      </p:sp>
      <p:sp>
        <p:nvSpPr>
          <p:cNvPr id="18" name="Shape 15"/>
          <p:cNvSpPr/>
          <p:nvPr/>
        </p:nvSpPr>
        <p:spPr>
          <a:xfrm>
            <a:off x="6675120" y="1828800"/>
            <a:ext cx="2011680" cy="1280160"/>
          </a:xfrm>
          <a:prstGeom prst="roundRect">
            <a:avLst>
              <a:gd name="adj" fmla="val 4286"/>
            </a:avLst>
          </a:prstGeom>
          <a:solidFill>
            <a:srgbClr val="FFFFFF"/>
          </a:solidFill>
          <a:ln w="19050">
            <a:solidFill>
              <a:srgbClr val="C00000"/>
            </a:solidFill>
            <a:prstDash val="solid"/>
          </a:ln>
        </p:spPr>
      </p:sp>
      <p:sp>
        <p:nvSpPr>
          <p:cNvPr id="19" name="Text 16"/>
          <p:cNvSpPr txBox="1"/>
          <p:nvPr/>
        </p:nvSpPr>
        <p:spPr>
          <a:xfrm>
            <a:off x="6720840" y="1874520"/>
            <a:ext cx="1920240" cy="1188720"/>
          </a:xfrm>
          <a:prstGeom prst="rect">
            <a:avLst/>
          </a:prstGeom>
          <a:noFill/>
          <a:ln/>
        </p:spPr>
        <p:txBody>
          <a:bodyPr wrap="square" rtlCol="0" anchor="ctr"/>
          <a:lstStyle/>
          <a:p>
            <a:pPr marL="0" indent="0" algn="ctr">
              <a:buNone/>
            </a:pPr>
            <a:r>
              <a:rPr lang="en-US" sz="1300" b="1" dirty="0">
                <a:solidFill>
                  <a:srgbClr val="C00000"/>
                </a:solidFill>
                <a:latin typeface="Calibri" pitchFamily="34" charset="0"/>
                <a:ea typeface="Calibri" pitchFamily="34" charset="-122"/>
                <a:cs typeface="Calibri" pitchFamily="34" charset="-120"/>
              </a:rPr>
              <a:t>External Services</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Razorpay (payments)</a:t>
            </a:r>
            <a:endParaRPr lang="en-US" sz="1300" dirty="0"/>
          </a:p>
          <a:p>
            <a:pPr marL="0" indent="0" algn="ctr">
              <a:buNone/>
            </a:pPr>
            <a:r>
              <a:rPr lang="en-US" sz="1300" dirty="0">
                <a:solidFill>
                  <a:srgbClr val="000000"/>
                </a:solidFill>
                <a:latin typeface="Calibri" pitchFamily="34" charset="0"/>
                <a:ea typeface="Calibri" pitchFamily="34" charset="-122"/>
                <a:cs typeface="Calibri" pitchFamily="34" charset="-120"/>
              </a:rPr>
              <a:t>Firebase Cloud Messaging (notifications)</a:t>
            </a:r>
            <a:endParaRPr lang="en-US" sz="1300" dirty="0"/>
          </a:p>
        </p:txBody>
      </p:sp>
      <p:sp>
        <p:nvSpPr>
          <p:cNvPr id="20" name="Text 17"/>
          <p:cNvSpPr txBox="1"/>
          <p:nvPr/>
        </p:nvSpPr>
        <p:spPr>
          <a:xfrm>
            <a:off x="6217920" y="2194560"/>
            <a:ext cx="457200" cy="36576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58782"/>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Technologies Used</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React.js - Frontend user interface</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Node.js + Express.js - Backend and REST APIs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MySQL - Relational database (DDL, constraints, indexes)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JWT, bcrypt, RBAC - Authentication and security</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Razorpay - Online payment gateway</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Firebase Cloud Messaging (FCM) - Notifications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Postman - API testing</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VS Code, MySQL Workbench - Development and DB design</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Git &amp; GitHub - Version control</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Dataset / Input Details</a:t>
            </a:r>
            <a:endParaRPr lang="en-US" sz="2200" dirty="0"/>
          </a:p>
        </p:txBody>
      </p:sp>
      <p:sp>
        <p:nvSpPr>
          <p:cNvPr id="7" name="Text 4"/>
          <p:cNvSpPr txBox="1"/>
          <p:nvPr/>
        </p:nvSpPr>
        <p:spPr>
          <a:xfrm>
            <a:off x="548640" y="960120"/>
            <a:ext cx="8046720" cy="365760"/>
          </a:xfrm>
          <a:prstGeom prst="rect">
            <a:avLst/>
          </a:prstGeom>
          <a:noFill/>
          <a:ln/>
        </p:spPr>
        <p:txBody>
          <a:bodyPr wrap="square" rtlCol="0" anchor="t"/>
          <a:lstStyle/>
          <a:p>
            <a:pPr marL="0" indent="0">
              <a:buNone/>
            </a:pPr>
            <a:r>
              <a:rPr lang="en-US" sz="1500" b="1" dirty="0">
                <a:solidFill>
                  <a:srgbClr val="000000"/>
                </a:solidFill>
                <a:latin typeface="Calibri" pitchFamily="34" charset="0"/>
                <a:ea typeface="Calibri" pitchFamily="34" charset="-122"/>
                <a:cs typeface="Calibri" pitchFamily="34" charset="-120"/>
              </a:rPr>
              <a:t>The system uses application-generated service data stored in MySQL. Main entities and inputs:</a:t>
            </a:r>
            <a:endParaRPr lang="en-US" sz="1500" dirty="0"/>
          </a:p>
        </p:txBody>
      </p:sp>
      <p:sp>
        <p:nvSpPr>
          <p:cNvPr id="8" name="Shape 5"/>
          <p:cNvSpPr/>
          <p:nvPr/>
        </p:nvSpPr>
        <p:spPr>
          <a:xfrm>
            <a:off x="457200" y="1417320"/>
            <a:ext cx="2651760" cy="1600200"/>
          </a:xfrm>
          <a:prstGeom prst="roundRect">
            <a:avLst>
              <a:gd name="adj" fmla="val 3429"/>
            </a:avLst>
          </a:prstGeom>
          <a:solidFill>
            <a:srgbClr val="FFFFFF"/>
          </a:solidFill>
          <a:ln w="12700">
            <a:solidFill>
              <a:srgbClr val="E3B5B8"/>
            </a:solidFill>
            <a:prstDash val="solid"/>
          </a:ln>
        </p:spPr>
      </p:sp>
      <p:sp>
        <p:nvSpPr>
          <p:cNvPr id="9" name="Text 6"/>
          <p:cNvSpPr txBox="1"/>
          <p:nvPr/>
        </p:nvSpPr>
        <p:spPr>
          <a:xfrm>
            <a:off x="566928" y="1472184"/>
            <a:ext cx="24323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Customer</a:t>
            </a:r>
            <a:endParaRPr lang="en-US" sz="1500" dirty="0"/>
          </a:p>
        </p:txBody>
      </p:sp>
      <p:sp>
        <p:nvSpPr>
          <p:cNvPr id="10" name="Text 7"/>
          <p:cNvSpPr txBox="1"/>
          <p:nvPr/>
        </p:nvSpPr>
        <p:spPr>
          <a:xfrm>
            <a:off x="566928" y="1828800"/>
            <a:ext cx="2432304"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customer_id, name</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email, phone</a:t>
            </a:r>
            <a:endParaRPr lang="en-US" sz="1300" dirty="0"/>
          </a:p>
        </p:txBody>
      </p:sp>
      <p:sp>
        <p:nvSpPr>
          <p:cNvPr id="11" name="Shape 8"/>
          <p:cNvSpPr/>
          <p:nvPr/>
        </p:nvSpPr>
        <p:spPr>
          <a:xfrm>
            <a:off x="3246120" y="1417320"/>
            <a:ext cx="2651760" cy="1600200"/>
          </a:xfrm>
          <a:prstGeom prst="roundRect">
            <a:avLst>
              <a:gd name="adj" fmla="val 3429"/>
            </a:avLst>
          </a:prstGeom>
          <a:solidFill>
            <a:srgbClr val="FFFFFF"/>
          </a:solidFill>
          <a:ln w="12700">
            <a:solidFill>
              <a:srgbClr val="E3B5B8"/>
            </a:solidFill>
            <a:prstDash val="solid"/>
          </a:ln>
        </p:spPr>
      </p:sp>
      <p:sp>
        <p:nvSpPr>
          <p:cNvPr id="12" name="Text 9"/>
          <p:cNvSpPr txBox="1"/>
          <p:nvPr/>
        </p:nvSpPr>
        <p:spPr>
          <a:xfrm>
            <a:off x="3355848" y="1472184"/>
            <a:ext cx="24323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Vehicle</a:t>
            </a:r>
            <a:endParaRPr lang="en-US" sz="1500" dirty="0"/>
          </a:p>
        </p:txBody>
      </p:sp>
      <p:sp>
        <p:nvSpPr>
          <p:cNvPr id="13" name="Text 10"/>
          <p:cNvSpPr txBox="1"/>
          <p:nvPr/>
        </p:nvSpPr>
        <p:spPr>
          <a:xfrm>
            <a:off x="3355848" y="1828800"/>
            <a:ext cx="2432304"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vehicle_id, customer_id (FK)</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registration_no, model</a:t>
            </a:r>
            <a:endParaRPr lang="en-US" sz="1300" dirty="0"/>
          </a:p>
        </p:txBody>
      </p:sp>
      <p:sp>
        <p:nvSpPr>
          <p:cNvPr id="14" name="Shape 11"/>
          <p:cNvSpPr/>
          <p:nvPr/>
        </p:nvSpPr>
        <p:spPr>
          <a:xfrm>
            <a:off x="6035040" y="1417320"/>
            <a:ext cx="2651760" cy="1600200"/>
          </a:xfrm>
          <a:prstGeom prst="roundRect">
            <a:avLst>
              <a:gd name="adj" fmla="val 3429"/>
            </a:avLst>
          </a:prstGeom>
          <a:solidFill>
            <a:srgbClr val="FFFFFF"/>
          </a:solidFill>
          <a:ln w="12700">
            <a:solidFill>
              <a:srgbClr val="E3B5B8"/>
            </a:solidFill>
            <a:prstDash val="solid"/>
          </a:ln>
        </p:spPr>
      </p:sp>
      <p:sp>
        <p:nvSpPr>
          <p:cNvPr id="15" name="Text 12"/>
          <p:cNvSpPr txBox="1"/>
          <p:nvPr/>
        </p:nvSpPr>
        <p:spPr>
          <a:xfrm>
            <a:off x="6144768" y="1472184"/>
            <a:ext cx="24323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Service</a:t>
            </a:r>
            <a:endParaRPr lang="en-US" sz="1500" dirty="0"/>
          </a:p>
        </p:txBody>
      </p:sp>
      <p:sp>
        <p:nvSpPr>
          <p:cNvPr id="16" name="Text 13"/>
          <p:cNvSpPr txBox="1"/>
          <p:nvPr/>
        </p:nvSpPr>
        <p:spPr>
          <a:xfrm>
            <a:off x="6144768" y="1828800"/>
            <a:ext cx="2432304"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service_id, service_name</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base_price</a:t>
            </a:r>
            <a:endParaRPr lang="en-US" sz="1300" dirty="0"/>
          </a:p>
        </p:txBody>
      </p:sp>
      <p:sp>
        <p:nvSpPr>
          <p:cNvPr id="17" name="Shape 14"/>
          <p:cNvSpPr/>
          <p:nvPr/>
        </p:nvSpPr>
        <p:spPr>
          <a:xfrm>
            <a:off x="457200" y="3154680"/>
            <a:ext cx="4114800" cy="1600200"/>
          </a:xfrm>
          <a:prstGeom prst="roundRect">
            <a:avLst>
              <a:gd name="adj" fmla="val 3429"/>
            </a:avLst>
          </a:prstGeom>
          <a:solidFill>
            <a:srgbClr val="FFFFFF"/>
          </a:solidFill>
          <a:ln w="12700">
            <a:solidFill>
              <a:srgbClr val="E3B5B8"/>
            </a:solidFill>
            <a:prstDash val="solid"/>
          </a:ln>
        </p:spPr>
      </p:sp>
      <p:sp>
        <p:nvSpPr>
          <p:cNvPr id="18" name="Text 15"/>
          <p:cNvSpPr txBox="1"/>
          <p:nvPr/>
        </p:nvSpPr>
        <p:spPr>
          <a:xfrm>
            <a:off x="566928" y="3209544"/>
            <a:ext cx="389534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Booking</a:t>
            </a:r>
            <a:endParaRPr lang="en-US" sz="1500" dirty="0"/>
          </a:p>
        </p:txBody>
      </p:sp>
      <p:sp>
        <p:nvSpPr>
          <p:cNvPr id="19" name="Text 16"/>
          <p:cNvSpPr txBox="1"/>
          <p:nvPr/>
        </p:nvSpPr>
        <p:spPr>
          <a:xfrm>
            <a:off x="566928" y="3566160"/>
            <a:ext cx="3895344"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booking_id, vehicle_id (FK), service_id (FK)</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booking_date, status</a:t>
            </a:r>
            <a:endParaRPr lang="en-US" sz="1300" dirty="0"/>
          </a:p>
        </p:txBody>
      </p:sp>
      <p:sp>
        <p:nvSpPr>
          <p:cNvPr id="20" name="Shape 17"/>
          <p:cNvSpPr/>
          <p:nvPr/>
        </p:nvSpPr>
        <p:spPr>
          <a:xfrm>
            <a:off x="4663440" y="3154680"/>
            <a:ext cx="4023360" cy="1600200"/>
          </a:xfrm>
          <a:prstGeom prst="roundRect">
            <a:avLst>
              <a:gd name="adj" fmla="val 3429"/>
            </a:avLst>
          </a:prstGeom>
          <a:solidFill>
            <a:srgbClr val="FFFFFF"/>
          </a:solidFill>
          <a:ln w="12700">
            <a:solidFill>
              <a:srgbClr val="E3B5B8"/>
            </a:solidFill>
            <a:prstDash val="solid"/>
          </a:ln>
        </p:spPr>
      </p:sp>
      <p:sp>
        <p:nvSpPr>
          <p:cNvPr id="21" name="Text 18"/>
          <p:cNvSpPr txBox="1"/>
          <p:nvPr/>
        </p:nvSpPr>
        <p:spPr>
          <a:xfrm>
            <a:off x="4773168" y="3209544"/>
            <a:ext cx="38039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Other inputs</a:t>
            </a:r>
            <a:endParaRPr lang="en-US" sz="1500" dirty="0"/>
          </a:p>
        </p:txBody>
      </p:sp>
      <p:sp>
        <p:nvSpPr>
          <p:cNvPr id="22" name="Text 19"/>
          <p:cNvSpPr txBox="1"/>
          <p:nvPr/>
        </p:nvSpPr>
        <p:spPr>
          <a:xfrm>
            <a:off x="4773168" y="3566160"/>
            <a:ext cx="3803904" cy="11430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Job cards, technicians, spare parts</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Invoices and payment records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Implementation – Module 1</a:t>
            </a:r>
            <a:endParaRPr lang="en-US" sz="2200" dirty="0"/>
          </a:p>
        </p:txBody>
      </p:sp>
      <p:sp>
        <p:nvSpPr>
          <p:cNvPr id="7" name="Text 4"/>
          <p:cNvSpPr txBox="1"/>
          <p:nvPr/>
        </p:nvSpPr>
        <p:spPr>
          <a:xfrm>
            <a:off x="548640" y="960120"/>
            <a:ext cx="8046720" cy="365760"/>
          </a:xfrm>
          <a:prstGeom prst="rect">
            <a:avLst/>
          </a:prstGeom>
          <a:noFill/>
          <a:ln/>
        </p:spPr>
        <p:txBody>
          <a:bodyPr wrap="square" rtlCol="0" anchor="t"/>
          <a:lstStyle/>
          <a:p>
            <a:pPr marL="0" indent="0">
              <a:buNone/>
            </a:pPr>
            <a:r>
              <a:rPr lang="en-US" sz="1500" b="1" dirty="0">
                <a:solidFill>
                  <a:srgbClr val="000000"/>
                </a:solidFill>
                <a:latin typeface="Calibri" pitchFamily="34" charset="0"/>
                <a:ea typeface="Calibri" pitchFamily="34" charset="-122"/>
                <a:cs typeface="Calibri" pitchFamily="34" charset="-120"/>
              </a:rPr>
              <a:t>Module 1: Database Design (ER Model, Schema &amp; SQL)</a:t>
            </a:r>
            <a:endParaRPr lang="en-US" sz="1500" dirty="0"/>
          </a:p>
        </p:txBody>
      </p:sp>
      <p:sp>
        <p:nvSpPr>
          <p:cNvPr id="8" name="Text 5"/>
          <p:cNvSpPr txBox="1"/>
          <p:nvPr/>
        </p:nvSpPr>
        <p:spPr>
          <a:xfrm>
            <a:off x="548640" y="1371600"/>
            <a:ext cx="8046720" cy="347472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ER model with entities Customer, Vehicle, Service and Booking, and their cardinalities (one customer has many vehicles; one vehicle has many bookings).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Relational schema with primary keys, foreign keys, UNIQUE and NOT NULL constraints.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Normalized through 1NF → 2NF → 3NF to remove redundancy and improve consistency.</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DDL scripts (e.g. CREATE TABLE Vehicle) and indexes on booking_date and booking_status for faster queries.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Advanced SQL: joins for service history, aggregates for reports, transactions for booking and billing.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ER Diagram (CO1)</a:t>
            </a:r>
            <a:endParaRPr lang="en-US" sz="2200" dirty="0"/>
          </a:p>
        </p:txBody>
      </p:sp>
      <p:pic>
        <p:nvPicPr>
          <p:cNvPr id="7" name="Image 1" descr="er_diagram.png"/>
          <p:cNvPicPr>
            <a:picLocks noChangeAspect="1"/>
          </p:cNvPicPr>
          <p:nvPr/>
        </p:nvPicPr>
        <p:blipFill>
          <a:blip r:embed="rId4"/>
          <a:stretch>
            <a:fillRect/>
          </a:stretch>
        </p:blipFill>
        <p:spPr>
          <a:xfrm>
            <a:off x="365760" y="1051560"/>
            <a:ext cx="8412480" cy="2779776"/>
          </a:xfrm>
          <a:prstGeom prst="rect">
            <a:avLst/>
          </a:prstGeom>
        </p:spPr>
      </p:pic>
      <p:sp>
        <p:nvSpPr>
          <p:cNvPr id="8" name="Text 4"/>
          <p:cNvSpPr txBox="1"/>
          <p:nvPr/>
        </p:nvSpPr>
        <p:spPr>
          <a:xfrm>
            <a:off x="457200" y="4023360"/>
            <a:ext cx="8229600" cy="731520"/>
          </a:xfrm>
          <a:prstGeom prst="rect">
            <a:avLst/>
          </a:prstGeom>
          <a:noFill/>
          <a:ln/>
        </p:spPr>
        <p:txBody>
          <a:bodyPr wrap="square" rtlCol="0" anchor="t"/>
          <a:lstStyle/>
          <a:p>
            <a:pPr marL="0" indent="0">
              <a:buNone/>
            </a:pPr>
            <a:r>
              <a:rPr lang="en-US" sz="1300" dirty="0">
                <a:solidFill>
                  <a:srgbClr val="333333"/>
                </a:solidFill>
                <a:latin typeface="Calibri" pitchFamily="34" charset="0"/>
                <a:ea typeface="Calibri" pitchFamily="34" charset="-122"/>
                <a:cs typeface="Calibri" pitchFamily="34" charset="-120"/>
              </a:rPr>
              <a:t>1 = one, N = many.  PK = primary key, FK = foreign key.  Customer 1:N Vehicle, Vehicle 1:N Booking, Service 1:N Booking, Booking 1:1 Job_Card, Technician 1:N Job_Card, Job_Card 1:1 Invoice, Invoice 1:N Payment.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Implementation – Module 2</a:t>
            </a:r>
            <a:endParaRPr lang="en-US" sz="2200" dirty="0"/>
          </a:p>
        </p:txBody>
      </p:sp>
      <p:sp>
        <p:nvSpPr>
          <p:cNvPr id="7" name="Text 4"/>
          <p:cNvSpPr txBox="1"/>
          <p:nvPr/>
        </p:nvSpPr>
        <p:spPr>
          <a:xfrm>
            <a:off x="548640" y="960120"/>
            <a:ext cx="8046720" cy="365760"/>
          </a:xfrm>
          <a:prstGeom prst="rect">
            <a:avLst/>
          </a:prstGeom>
          <a:noFill/>
          <a:ln/>
        </p:spPr>
        <p:txBody>
          <a:bodyPr wrap="square" rtlCol="0" anchor="t"/>
          <a:lstStyle/>
          <a:p>
            <a:pPr marL="0" indent="0">
              <a:buNone/>
            </a:pPr>
            <a:r>
              <a:rPr lang="en-US" sz="1500" b="1" dirty="0">
                <a:solidFill>
                  <a:srgbClr val="000000"/>
                </a:solidFill>
                <a:latin typeface="Calibri" pitchFamily="34" charset="0"/>
                <a:ea typeface="Calibri" pitchFamily="34" charset="-122"/>
                <a:cs typeface="Calibri" pitchFamily="34" charset="-120"/>
              </a:rPr>
              <a:t>Module 2: Backend REST API &amp; Security (Node.js + Express)</a:t>
            </a:r>
            <a:endParaRPr lang="en-US" sz="1500" dirty="0"/>
          </a:p>
        </p:txBody>
      </p:sp>
      <p:sp>
        <p:nvSpPr>
          <p:cNvPr id="8" name="Text 5"/>
          <p:cNvSpPr txBox="1"/>
          <p:nvPr/>
        </p:nvSpPr>
        <p:spPr>
          <a:xfrm>
            <a:off x="548640" y="1371600"/>
            <a:ext cx="8046720" cy="347472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Layered architecture: Router → Middleware → Controller → Service Layer → MySQL.</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Endpoints: POST /api/auth/register, /api/auth/login, GET/POST /api/vehicles, POST /api/bookings, PUT /api/bookings/:id/status.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JWT authentication, role-based access control (customer / service center), password hashing, input validation, rate limiting and HTTPS.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Async/await with non-blocking I/O and centralised error handling.</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APIs tested with Postman for authentication, validation and status codes.</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Implementation – Module 3</a:t>
            </a:r>
            <a:endParaRPr lang="en-US" sz="2200" dirty="0"/>
          </a:p>
        </p:txBody>
      </p:sp>
      <p:sp>
        <p:nvSpPr>
          <p:cNvPr id="7" name="Text 4"/>
          <p:cNvSpPr txBox="1"/>
          <p:nvPr/>
        </p:nvSpPr>
        <p:spPr>
          <a:xfrm>
            <a:off x="548640" y="960120"/>
            <a:ext cx="8046720" cy="365760"/>
          </a:xfrm>
          <a:prstGeom prst="rect">
            <a:avLst/>
          </a:prstGeom>
          <a:noFill/>
          <a:ln/>
        </p:spPr>
        <p:txBody>
          <a:bodyPr wrap="square" rtlCol="0" anchor="t"/>
          <a:lstStyle/>
          <a:p>
            <a:pPr marL="0" indent="0">
              <a:buNone/>
            </a:pPr>
            <a:r>
              <a:rPr lang="en-US" sz="1500" b="1" dirty="0">
                <a:solidFill>
                  <a:srgbClr val="000000"/>
                </a:solidFill>
                <a:latin typeface="Calibri" pitchFamily="34" charset="0"/>
                <a:ea typeface="Calibri" pitchFamily="34" charset="-122"/>
                <a:cs typeface="Calibri" pitchFamily="34" charset="-120"/>
              </a:rPr>
              <a:t>Module 3: Service Workflow, Invoicing &amp; Payments</a:t>
            </a:r>
            <a:endParaRPr lang="en-US" sz="1500" dirty="0"/>
          </a:p>
        </p:txBody>
      </p:sp>
      <p:sp>
        <p:nvSpPr>
          <p:cNvPr id="8" name="Text 5"/>
          <p:cNvSpPr txBox="1"/>
          <p:nvPr/>
        </p:nvSpPr>
        <p:spPr>
          <a:xfrm>
            <a:off x="548640" y="1371600"/>
            <a:ext cx="8046720" cy="3474720"/>
          </a:xfrm>
          <a:prstGeom prst="rect">
            <a:avLst/>
          </a:prstGeom>
          <a:noFill/>
          <a:ln/>
        </p:spPr>
        <p:txBody>
          <a:bodyPr wrap="square" rtlCol="0" anchor="t"/>
          <a:lstStyle/>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Job-card creation and technician allocation for each confirmed booking.</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Service-status tracking (booked, in progress, completed) visible to the customer.</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Spare-part management linked to job cards.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Digital invoice generation (POST /api/invoices) and online payment via Razorpay (POST /api/payments).</a:t>
            </a:r>
            <a:endParaRPr lang="en-US" sz="1500" dirty="0"/>
          </a:p>
          <a:p>
            <a:pPr marL="342900" indent="-342900">
              <a:spcAft>
                <a:spcPts val="600"/>
              </a:spcAft>
              <a:buSzPct val="100000"/>
              <a:buChar char="•"/>
            </a:pPr>
            <a:r>
              <a:rPr lang="en-US" sz="1500" dirty="0">
                <a:solidFill>
                  <a:srgbClr val="000000"/>
                </a:solidFill>
                <a:latin typeface="Calibri" pitchFamily="34" charset="0"/>
                <a:ea typeface="Calibri" pitchFamily="34" charset="-122"/>
                <a:cs typeface="Calibri" pitchFamily="34" charset="-120"/>
              </a:rPr>
              <a:t>Notifications through Firebase Cloud Messaging and a complete service-history view.</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Experimental Setup</a:t>
            </a:r>
            <a:endParaRPr lang="en-US" sz="2200" dirty="0"/>
          </a:p>
        </p:txBody>
      </p:sp>
      <p:sp>
        <p:nvSpPr>
          <p:cNvPr id="7" name="Shape 4"/>
          <p:cNvSpPr/>
          <p:nvPr/>
        </p:nvSpPr>
        <p:spPr>
          <a:xfrm>
            <a:off x="457200" y="1005840"/>
            <a:ext cx="4023360" cy="1828800"/>
          </a:xfrm>
          <a:prstGeom prst="roundRect">
            <a:avLst>
              <a:gd name="adj" fmla="val 3000"/>
            </a:avLst>
          </a:prstGeom>
          <a:solidFill>
            <a:srgbClr val="FFFFFF"/>
          </a:solidFill>
          <a:ln w="12700">
            <a:solidFill>
              <a:srgbClr val="E3B5B8"/>
            </a:solidFill>
            <a:prstDash val="solid"/>
          </a:ln>
        </p:spPr>
      </p:sp>
      <p:sp>
        <p:nvSpPr>
          <p:cNvPr id="8" name="Text 5"/>
          <p:cNvSpPr txBox="1"/>
          <p:nvPr/>
        </p:nvSpPr>
        <p:spPr>
          <a:xfrm>
            <a:off x="566928" y="1060704"/>
            <a:ext cx="38039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Software</a:t>
            </a:r>
            <a:endParaRPr lang="en-US" sz="1500" dirty="0"/>
          </a:p>
        </p:txBody>
      </p:sp>
      <p:sp>
        <p:nvSpPr>
          <p:cNvPr id="9" name="Text 6"/>
          <p:cNvSpPr txBox="1"/>
          <p:nvPr/>
        </p:nvSpPr>
        <p:spPr>
          <a:xfrm>
            <a:off x="566928" y="1417320"/>
            <a:ext cx="3803904" cy="13716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Windows 10/11, VS Code</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Node.js, Express.js, React.js</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MySQL Server &amp; Workbench</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Postman, Git &amp; GitHub</a:t>
            </a:r>
            <a:endParaRPr lang="en-US" sz="1300" dirty="0"/>
          </a:p>
        </p:txBody>
      </p:sp>
      <p:sp>
        <p:nvSpPr>
          <p:cNvPr id="10" name="Shape 7"/>
          <p:cNvSpPr/>
          <p:nvPr/>
        </p:nvSpPr>
        <p:spPr>
          <a:xfrm>
            <a:off x="4663440" y="1005840"/>
            <a:ext cx="4023360" cy="1828800"/>
          </a:xfrm>
          <a:prstGeom prst="roundRect">
            <a:avLst>
              <a:gd name="adj" fmla="val 3000"/>
            </a:avLst>
          </a:prstGeom>
          <a:solidFill>
            <a:srgbClr val="FFFFFF"/>
          </a:solidFill>
          <a:ln w="12700">
            <a:solidFill>
              <a:srgbClr val="E3B5B8"/>
            </a:solidFill>
            <a:prstDash val="solid"/>
          </a:ln>
        </p:spPr>
      </p:sp>
      <p:sp>
        <p:nvSpPr>
          <p:cNvPr id="11" name="Text 8"/>
          <p:cNvSpPr txBox="1"/>
          <p:nvPr/>
        </p:nvSpPr>
        <p:spPr>
          <a:xfrm>
            <a:off x="4773168" y="1060704"/>
            <a:ext cx="38039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Hardware</a:t>
            </a:r>
            <a:endParaRPr lang="en-US" sz="1500" dirty="0"/>
          </a:p>
        </p:txBody>
      </p:sp>
      <p:sp>
        <p:nvSpPr>
          <p:cNvPr id="12" name="Text 9"/>
          <p:cNvSpPr txBox="1"/>
          <p:nvPr/>
        </p:nvSpPr>
        <p:spPr>
          <a:xfrm>
            <a:off x="4773168" y="1417320"/>
            <a:ext cx="3803904" cy="137160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Intel Core i3 or above</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Minimum 8 GB RAM</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20 GB free storage</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Internet connection (payments, FCM)</a:t>
            </a:r>
            <a:endParaRPr lang="en-US" sz="1300" dirty="0"/>
          </a:p>
        </p:txBody>
      </p:sp>
      <p:sp>
        <p:nvSpPr>
          <p:cNvPr id="13" name="Shape 10"/>
          <p:cNvSpPr/>
          <p:nvPr/>
        </p:nvSpPr>
        <p:spPr>
          <a:xfrm>
            <a:off x="457200" y="3017520"/>
            <a:ext cx="8229600" cy="1737360"/>
          </a:xfrm>
          <a:prstGeom prst="roundRect">
            <a:avLst>
              <a:gd name="adj" fmla="val 3158"/>
            </a:avLst>
          </a:prstGeom>
          <a:solidFill>
            <a:srgbClr val="FFFFFF"/>
          </a:solidFill>
          <a:ln w="12700">
            <a:solidFill>
              <a:srgbClr val="E3B5B8"/>
            </a:solidFill>
            <a:prstDash val="solid"/>
          </a:ln>
        </p:spPr>
      </p:sp>
      <p:sp>
        <p:nvSpPr>
          <p:cNvPr id="14" name="Text 11"/>
          <p:cNvSpPr txBox="1"/>
          <p:nvPr/>
        </p:nvSpPr>
        <p:spPr>
          <a:xfrm>
            <a:off x="566928" y="3072384"/>
            <a:ext cx="801014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Testing Approach</a:t>
            </a:r>
            <a:endParaRPr lang="en-US" sz="1500" dirty="0"/>
          </a:p>
        </p:txBody>
      </p:sp>
      <p:sp>
        <p:nvSpPr>
          <p:cNvPr id="15" name="Text 12"/>
          <p:cNvSpPr txBox="1"/>
          <p:nvPr/>
        </p:nvSpPr>
        <p:spPr>
          <a:xfrm>
            <a:off x="566928" y="3429000"/>
            <a:ext cx="8010144" cy="1280160"/>
          </a:xfrm>
          <a:prstGeom prst="rect">
            <a:avLst/>
          </a:prstGeom>
          <a:noFill/>
          <a:ln/>
        </p:spPr>
        <p:txBody>
          <a:bodyPr wrap="square" lIns="0" tIns="0" rIns="0" bIns="0" rtlCol="0" anchor="t"/>
          <a:lstStyle/>
          <a:p>
            <a:pPr marL="342900" indent="-342900">
              <a:spcAft>
                <a:spcPts val="300"/>
              </a:spcAft>
              <a:buSzPct val="100000"/>
              <a:buChar char="•"/>
            </a:pPr>
            <a:r>
              <a:rPr lang="en-US" sz="1400" dirty="0">
                <a:solidFill>
                  <a:srgbClr val="222222"/>
                </a:solidFill>
                <a:latin typeface="Calibri" pitchFamily="34" charset="0"/>
                <a:ea typeface="Calibri" pitchFamily="34" charset="-122"/>
                <a:cs typeface="Calibri" pitchFamily="34" charset="-120"/>
              </a:rPr>
              <a:t>Database tested with sample customers, vehicles, services and bookings</a:t>
            </a:r>
            <a:endParaRPr lang="en-US" sz="1400" dirty="0"/>
          </a:p>
          <a:p>
            <a:pPr marL="342900" indent="-342900">
              <a:spcAft>
                <a:spcPts val="300"/>
              </a:spcAft>
              <a:buSzPct val="100000"/>
              <a:buChar char="•"/>
            </a:pPr>
            <a:r>
              <a:rPr lang="en-US" sz="1400" dirty="0">
                <a:solidFill>
                  <a:srgbClr val="222222"/>
                </a:solidFill>
                <a:latin typeface="Calibri" pitchFamily="34" charset="0"/>
                <a:ea typeface="Calibri" pitchFamily="34" charset="-122"/>
                <a:cs typeface="Calibri" pitchFamily="34" charset="-120"/>
              </a:rPr>
              <a:t>REST APIs tested with Postman (auth, validation, status codes)</a:t>
            </a:r>
            <a:endParaRPr lang="en-US" sz="1400" dirty="0"/>
          </a:p>
          <a:p>
            <a:pPr marL="342900" indent="-342900">
              <a:spcAft>
                <a:spcPts val="300"/>
              </a:spcAft>
              <a:buSzPct val="100000"/>
              <a:buChar char="•"/>
            </a:pPr>
            <a:r>
              <a:rPr lang="en-US" sz="1400" dirty="0">
                <a:solidFill>
                  <a:srgbClr val="222222"/>
                </a:solidFill>
                <a:latin typeface="Calibri" pitchFamily="34" charset="0"/>
                <a:ea typeface="Calibri" pitchFamily="34" charset="-122"/>
                <a:cs typeface="Calibri" pitchFamily="34" charset="-120"/>
              </a:rPr>
              <a:t>End-to-end flow tested: register → book → job card → invoice → payment</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Results</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Customers can register, log in and add vehicles.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Service bookings are created and stored with their status.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Job cards and technician allocation are managed by the service center.</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Service status can be updated and tracked by the customer.</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Invoices are generated and payments are recorded.</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Service history is available for every vehicle.</a:t>
            </a:r>
            <a:endParaRPr lang="en-US" sz="1600" dirty="0"/>
          </a:p>
        </p:txBody>
      </p:sp>
      <p:sp>
        <p:nvSpPr>
          <p:cNvPr id="8" name="Text 5"/>
          <p:cNvSpPr txBox="1"/>
          <p:nvPr/>
        </p:nvSpPr>
        <p:spPr>
          <a:xfrm>
            <a:off x="548640" y="4480560"/>
            <a:ext cx="8046720" cy="320040"/>
          </a:xfrm>
          <a:prstGeom prst="rect">
            <a:avLst/>
          </a:prstGeom>
          <a:noFill/>
          <a:ln/>
        </p:spPr>
        <p:txBody>
          <a:bodyPr wrap="square" rtlCol="0" anchor="ctr"/>
          <a:lstStyle/>
          <a:p>
            <a:pPr marL="0" indent="0">
              <a:buNone/>
            </a:pPr>
            <a:r>
              <a:rPr lang="en-US" sz="1200" i="1" dirty="0">
                <a:solidFill>
                  <a:srgbClr val="777777"/>
                </a:solidFill>
                <a:latin typeface="Calibri" pitchFamily="34" charset="0"/>
                <a:ea typeface="Calibri" pitchFamily="34" charset="-122"/>
                <a:cs typeface="Calibri" pitchFamily="34" charset="-120"/>
              </a:rPr>
              <a:t>Update this list to match the features completed in your build.</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Performance Evaluation</a:t>
            </a:r>
            <a:endParaRPr lang="en-US" sz="2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3291840"/>
        </p:xfrm>
        <a:graphic>
          <a:graphicData uri="http://schemas.openxmlformats.org/drawingml/2006/table">
            <a:tbl>
              <a:tblPr/>
              <a:tblGrid>
                <a:gridCol w="210312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54864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Parameter</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C00000"/>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Approach</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C00000"/>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Observed Result</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API response time</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Postman timing on key endpoints</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___ ms (fill in)</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Query performance</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Indexes on booking_date, status</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___ ms before / ___ ms after</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Security</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JWT, RBAC, hashing, rate limiting</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Unauthorised requests rejected</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Data integrity</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PK/FK constraints, transactions</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No orphan or duplicate records</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Load test</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Concurrent booking requests</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___ requests/sec (fill in)</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8" name="Text 4"/>
          <p:cNvSpPr txBox="1"/>
          <p:nvPr/>
        </p:nvSpPr>
        <p:spPr>
          <a:xfrm>
            <a:off x="457200" y="4526280"/>
            <a:ext cx="8229600" cy="274320"/>
          </a:xfrm>
          <a:prstGeom prst="rect">
            <a:avLst/>
          </a:prstGeom>
          <a:noFill/>
          <a:ln/>
        </p:spPr>
        <p:txBody>
          <a:bodyPr wrap="square" rtlCol="0" anchor="ctr"/>
          <a:lstStyle/>
          <a:p>
            <a:pPr marL="0" indent="0">
              <a:buNone/>
            </a:pPr>
            <a:r>
              <a:rPr lang="en-US" sz="1200" i="1" dirty="0">
                <a:solidFill>
                  <a:srgbClr val="777777"/>
                </a:solidFill>
                <a:latin typeface="Calibri" pitchFamily="34" charset="0"/>
                <a:ea typeface="Calibri" pitchFamily="34" charset="-122"/>
                <a:cs typeface="Calibri" pitchFamily="34" charset="-120"/>
              </a:rPr>
              <a:t>Replace the blanks with your measured values.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Screenshots / Working Demo</a:t>
            </a:r>
            <a:endParaRPr lang="en-US" sz="2200" dirty="0"/>
          </a:p>
        </p:txBody>
      </p:sp>
      <p:sp>
        <p:nvSpPr>
          <p:cNvPr id="7" name="Shape 4"/>
          <p:cNvSpPr/>
          <p:nvPr/>
        </p:nvSpPr>
        <p:spPr>
          <a:xfrm>
            <a:off x="548640" y="1005840"/>
            <a:ext cx="8046720" cy="3840480"/>
          </a:xfrm>
          <a:prstGeom prst="rect">
            <a:avLst/>
          </a:prstGeom>
          <a:solidFill>
            <a:srgbClr val="FFFFFF"/>
          </a:solidFill>
          <a:ln w="12700">
            <a:solidFill>
              <a:srgbClr val="B5242F"/>
            </a:solidFill>
            <a:prstDash val="dash"/>
          </a:ln>
        </p:spPr>
      </p:sp>
      <p:sp>
        <p:nvSpPr>
          <p:cNvPr id="8" name="Text 5"/>
          <p:cNvSpPr txBox="1"/>
          <p:nvPr/>
        </p:nvSpPr>
        <p:spPr>
          <a:xfrm>
            <a:off x="548640" y="1005840"/>
            <a:ext cx="8046720" cy="3840480"/>
          </a:xfrm>
          <a:prstGeom prst="rect">
            <a:avLst/>
          </a:prstGeom>
          <a:noFill/>
          <a:ln/>
        </p:spPr>
        <p:txBody>
          <a:bodyPr wrap="square" rtlCol="0" anchor="ctr"/>
          <a:lstStyle/>
          <a:p>
            <a:pPr marL="0" indent="0" algn="ctr">
              <a:buNone/>
            </a:pPr>
            <a:endParaRPr lang="en-US" sz="1600" dirty="0"/>
          </a:p>
        </p:txBody>
      </p:sp>
      <p:pic>
        <p:nvPicPr>
          <p:cNvPr id="12" name="Picture 11">
            <a:extLst>
              <a:ext uri="{FF2B5EF4-FFF2-40B4-BE49-F238E27FC236}">
                <a16:creationId xmlns:a16="http://schemas.microsoft.com/office/drawing/2014/main" id="{EA8AF87F-3708-794C-FC20-B78B1CF1413E}"/>
              </a:ext>
            </a:extLst>
          </p:cNvPr>
          <p:cNvPicPr>
            <a:picLocks noChangeAspect="1"/>
          </p:cNvPicPr>
          <p:nvPr/>
        </p:nvPicPr>
        <p:blipFill>
          <a:blip r:embed="rId4"/>
          <a:stretch>
            <a:fillRect/>
          </a:stretch>
        </p:blipFill>
        <p:spPr>
          <a:xfrm>
            <a:off x="786384" y="1099825"/>
            <a:ext cx="1776376" cy="1989541"/>
          </a:xfrm>
          <a:prstGeom prst="rect">
            <a:avLst/>
          </a:prstGeom>
        </p:spPr>
      </p:pic>
      <p:pic>
        <p:nvPicPr>
          <p:cNvPr id="14" name="Picture 13">
            <a:extLst>
              <a:ext uri="{FF2B5EF4-FFF2-40B4-BE49-F238E27FC236}">
                <a16:creationId xmlns:a16="http://schemas.microsoft.com/office/drawing/2014/main" id="{673F9C15-436E-C01D-5A83-B02AB36E6360}"/>
              </a:ext>
            </a:extLst>
          </p:cNvPr>
          <p:cNvPicPr>
            <a:picLocks noChangeAspect="1"/>
          </p:cNvPicPr>
          <p:nvPr/>
        </p:nvPicPr>
        <p:blipFill>
          <a:blip r:embed="rId5"/>
          <a:stretch>
            <a:fillRect/>
          </a:stretch>
        </p:blipFill>
        <p:spPr>
          <a:xfrm>
            <a:off x="2896497" y="1099825"/>
            <a:ext cx="2779315" cy="2172832"/>
          </a:xfrm>
          <a:prstGeom prst="rect">
            <a:avLst/>
          </a:prstGeom>
        </p:spPr>
      </p:pic>
      <p:pic>
        <p:nvPicPr>
          <p:cNvPr id="16" name="Picture 15">
            <a:extLst>
              <a:ext uri="{FF2B5EF4-FFF2-40B4-BE49-F238E27FC236}">
                <a16:creationId xmlns:a16="http://schemas.microsoft.com/office/drawing/2014/main" id="{2990C954-C06E-05AF-AE66-58DE581A5FFE}"/>
              </a:ext>
            </a:extLst>
          </p:cNvPr>
          <p:cNvPicPr>
            <a:picLocks noChangeAspect="1"/>
          </p:cNvPicPr>
          <p:nvPr/>
        </p:nvPicPr>
        <p:blipFill>
          <a:blip r:embed="rId6"/>
          <a:stretch>
            <a:fillRect/>
          </a:stretch>
        </p:blipFill>
        <p:spPr>
          <a:xfrm>
            <a:off x="5896058" y="1099825"/>
            <a:ext cx="2601330" cy="205200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Comparison with Existing System</a:t>
            </a:r>
            <a:endParaRPr lang="en-US" sz="22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8229600" cy="3520440"/>
        </p:xfrm>
        <a:graphic>
          <a:graphicData uri="http://schemas.openxmlformats.org/drawingml/2006/table">
            <a:tbl>
              <a:tblPr/>
              <a:tblGrid>
                <a:gridCol w="201168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tblGrid>
              <a:tr h="502920">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Feature</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C00000"/>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Existing (Manual) System</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C00000"/>
                    </a:solidFill>
                  </a:tcPr>
                </a:tc>
                <a:tc>
                  <a:txBody>
                    <a:bodyPr/>
                    <a:lstStyle/>
                    <a:p>
                      <a:pPr marL="0" indent="0" algn="ctr">
                        <a:buNone/>
                      </a:pPr>
                      <a:r>
                        <a:rPr lang="en-US" sz="1400" b="1" dirty="0">
                          <a:solidFill>
                            <a:srgbClr val="FFFFFF"/>
                          </a:solidFill>
                          <a:latin typeface="Calibri" pitchFamily="34" charset="0"/>
                          <a:ea typeface="Calibri" pitchFamily="34" charset="-122"/>
                          <a:cs typeface="Calibri" pitchFamily="34" charset="-120"/>
                        </a:rPr>
                        <a:t>Proposed System</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C00000"/>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Booking</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Phone call / visit</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Online service booking</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Job card</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Paper job card</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Digital job card</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Status visibility</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Limited</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Real-time status tracking</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Records</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Paper, hard to maintain</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Centralized MySQL database</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292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Billing</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Manual billing</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Digital invoice &amp; online payment</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Communication</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Delayed</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tc>
                  <a:txBody>
                    <a:bodyPr/>
                    <a:lstStyle/>
                    <a:p>
                      <a:pPr marL="0" indent="0">
                        <a:buNone/>
                      </a:pPr>
                      <a:r>
                        <a:rPr lang="en-US" sz="1400" dirty="0">
                          <a:solidFill>
                            <a:srgbClr val="000000"/>
                          </a:solidFill>
                          <a:latin typeface="Calibri" pitchFamily="34" charset="0"/>
                          <a:ea typeface="Calibri" pitchFamily="34" charset="-122"/>
                          <a:cs typeface="Calibri" pitchFamily="34" charset="-120"/>
                        </a:rPr>
                        <a:t>Notifications (FCM)</a:t>
                      </a:r>
                      <a:endParaRPr lang="en-US" sz="1400" dirty="0">
                        <a:latin typeface="Calibri" charset="0"/>
                        <a:ea typeface="Calibri" charset="0"/>
                        <a:cs typeface="Calibri" charset="0"/>
                      </a:endParaRPr>
                    </a:p>
                  </a:txBody>
                  <a:tcPr anchor="ctr">
                    <a:lnL w="12700" cap="flat" cmpd="sng" algn="ctr">
                      <a:solidFill>
                        <a:srgbClr val="D9A5A8"/>
                      </a:solidFill>
                      <a:prstDash val="solid"/>
                      <a:round/>
                      <a:headEnd type="none" w="med" len="med"/>
                      <a:tailEnd type="none" w="med" len="med"/>
                    </a:lnL>
                    <a:lnR w="12700" cap="flat" cmpd="sng" algn="ctr">
                      <a:solidFill>
                        <a:srgbClr val="D9A5A8"/>
                      </a:solidFill>
                      <a:prstDash val="solid"/>
                      <a:round/>
                      <a:headEnd type="none" w="med" len="med"/>
                      <a:tailEnd type="none" w="med" len="med"/>
                    </a:lnR>
                    <a:lnT w="12700" cap="flat" cmpd="sng" algn="ctr">
                      <a:solidFill>
                        <a:srgbClr val="D9A5A8"/>
                      </a:solidFill>
                      <a:prstDash val="solid"/>
                      <a:round/>
                      <a:headEnd type="none" w="med" len="med"/>
                      <a:tailEnd type="none" w="med" len="med"/>
                    </a:lnT>
                    <a:lnB w="12700" cap="flat" cmpd="sng" algn="ctr">
                      <a:solidFill>
                        <a:srgbClr val="D9A5A8"/>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Challenges &amp; Solutions</a:t>
            </a:r>
            <a:endParaRPr lang="en-US" sz="2200" dirty="0"/>
          </a:p>
        </p:txBody>
      </p:sp>
      <p:sp>
        <p:nvSpPr>
          <p:cNvPr id="7" name="Shape 4"/>
          <p:cNvSpPr/>
          <p:nvPr/>
        </p:nvSpPr>
        <p:spPr>
          <a:xfrm>
            <a:off x="457200" y="1005840"/>
            <a:ext cx="3840480" cy="640080"/>
          </a:xfrm>
          <a:prstGeom prst="roundRect">
            <a:avLst>
              <a:gd name="adj" fmla="val 8571"/>
            </a:avLst>
          </a:prstGeom>
          <a:solidFill>
            <a:srgbClr val="C00000"/>
          </a:solidFill>
          <a:ln w="12700">
            <a:solidFill>
              <a:srgbClr val="C00000"/>
            </a:solidFill>
            <a:prstDash val="solid"/>
          </a:ln>
        </p:spPr>
      </p:sp>
      <p:sp>
        <p:nvSpPr>
          <p:cNvPr id="8" name="Text 5"/>
          <p:cNvSpPr txBox="1"/>
          <p:nvPr/>
        </p:nvSpPr>
        <p:spPr>
          <a:xfrm>
            <a:off x="502920" y="1005840"/>
            <a:ext cx="374904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Designing a consistent schema</a:t>
            </a:r>
            <a:endParaRPr lang="en-US" sz="1400" dirty="0"/>
          </a:p>
        </p:txBody>
      </p:sp>
      <p:sp>
        <p:nvSpPr>
          <p:cNvPr id="9" name="Text 6"/>
          <p:cNvSpPr txBox="1"/>
          <p:nvPr/>
        </p:nvSpPr>
        <p:spPr>
          <a:xfrm>
            <a:off x="4297680" y="1005840"/>
            <a:ext cx="457200" cy="64008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10" name="Shape 7"/>
          <p:cNvSpPr/>
          <p:nvPr/>
        </p:nvSpPr>
        <p:spPr>
          <a:xfrm>
            <a:off x="4754880" y="1005840"/>
            <a:ext cx="3931920" cy="640080"/>
          </a:xfrm>
          <a:prstGeom prst="roundRect">
            <a:avLst>
              <a:gd name="adj" fmla="val 8571"/>
            </a:avLst>
          </a:prstGeom>
          <a:solidFill>
            <a:srgbClr val="FFFFFF"/>
          </a:solidFill>
          <a:ln w="12700">
            <a:solidFill>
              <a:srgbClr val="C00000"/>
            </a:solidFill>
            <a:prstDash val="solid"/>
          </a:ln>
        </p:spPr>
      </p:sp>
      <p:sp>
        <p:nvSpPr>
          <p:cNvPr id="11" name="Text 8"/>
          <p:cNvSpPr txBox="1"/>
          <p:nvPr/>
        </p:nvSpPr>
        <p:spPr>
          <a:xfrm>
            <a:off x="4800600" y="1005840"/>
            <a:ext cx="3840480" cy="640080"/>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Normalized to 3NF with PK/FK constraints</a:t>
            </a:r>
            <a:endParaRPr lang="en-US" sz="1400" dirty="0"/>
          </a:p>
        </p:txBody>
      </p:sp>
      <p:sp>
        <p:nvSpPr>
          <p:cNvPr id="12" name="Shape 9"/>
          <p:cNvSpPr/>
          <p:nvPr/>
        </p:nvSpPr>
        <p:spPr>
          <a:xfrm>
            <a:off x="457200" y="1783080"/>
            <a:ext cx="3840480" cy="640080"/>
          </a:xfrm>
          <a:prstGeom prst="roundRect">
            <a:avLst>
              <a:gd name="adj" fmla="val 8571"/>
            </a:avLst>
          </a:prstGeom>
          <a:solidFill>
            <a:srgbClr val="C00000"/>
          </a:solidFill>
          <a:ln w="12700">
            <a:solidFill>
              <a:srgbClr val="C00000"/>
            </a:solidFill>
            <a:prstDash val="solid"/>
          </a:ln>
        </p:spPr>
      </p:sp>
      <p:sp>
        <p:nvSpPr>
          <p:cNvPr id="13" name="Text 10"/>
          <p:cNvSpPr txBox="1"/>
          <p:nvPr/>
        </p:nvSpPr>
        <p:spPr>
          <a:xfrm>
            <a:off x="502920" y="1783080"/>
            <a:ext cx="374904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Slow queries on bookings</a:t>
            </a:r>
            <a:endParaRPr lang="en-US" sz="1400" dirty="0"/>
          </a:p>
        </p:txBody>
      </p:sp>
      <p:sp>
        <p:nvSpPr>
          <p:cNvPr id="14" name="Text 11"/>
          <p:cNvSpPr txBox="1"/>
          <p:nvPr/>
        </p:nvSpPr>
        <p:spPr>
          <a:xfrm>
            <a:off x="4297680" y="1783080"/>
            <a:ext cx="457200" cy="64008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15" name="Shape 12"/>
          <p:cNvSpPr/>
          <p:nvPr/>
        </p:nvSpPr>
        <p:spPr>
          <a:xfrm>
            <a:off x="4754880" y="1783080"/>
            <a:ext cx="3931920" cy="640080"/>
          </a:xfrm>
          <a:prstGeom prst="roundRect">
            <a:avLst>
              <a:gd name="adj" fmla="val 8571"/>
            </a:avLst>
          </a:prstGeom>
          <a:solidFill>
            <a:srgbClr val="FFFFFF"/>
          </a:solidFill>
          <a:ln w="12700">
            <a:solidFill>
              <a:srgbClr val="C00000"/>
            </a:solidFill>
            <a:prstDash val="solid"/>
          </a:ln>
        </p:spPr>
      </p:sp>
      <p:sp>
        <p:nvSpPr>
          <p:cNvPr id="16" name="Text 13"/>
          <p:cNvSpPr txBox="1"/>
          <p:nvPr/>
        </p:nvSpPr>
        <p:spPr>
          <a:xfrm>
            <a:off x="4800600" y="1783080"/>
            <a:ext cx="3840480" cy="640080"/>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Added indexes on date and status</a:t>
            </a:r>
            <a:endParaRPr lang="en-US" sz="1400" dirty="0"/>
          </a:p>
        </p:txBody>
      </p:sp>
      <p:sp>
        <p:nvSpPr>
          <p:cNvPr id="17" name="Shape 14"/>
          <p:cNvSpPr/>
          <p:nvPr/>
        </p:nvSpPr>
        <p:spPr>
          <a:xfrm>
            <a:off x="457200" y="2560320"/>
            <a:ext cx="3840480" cy="640080"/>
          </a:xfrm>
          <a:prstGeom prst="roundRect">
            <a:avLst>
              <a:gd name="adj" fmla="val 8571"/>
            </a:avLst>
          </a:prstGeom>
          <a:solidFill>
            <a:srgbClr val="C00000"/>
          </a:solidFill>
          <a:ln w="12700">
            <a:solidFill>
              <a:srgbClr val="C00000"/>
            </a:solidFill>
            <a:prstDash val="solid"/>
          </a:ln>
        </p:spPr>
      </p:sp>
      <p:sp>
        <p:nvSpPr>
          <p:cNvPr id="18" name="Text 15"/>
          <p:cNvSpPr txBox="1"/>
          <p:nvPr/>
        </p:nvSpPr>
        <p:spPr>
          <a:xfrm>
            <a:off x="502920" y="2560320"/>
            <a:ext cx="374904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Securing user access</a:t>
            </a:r>
            <a:endParaRPr lang="en-US" sz="1400" dirty="0"/>
          </a:p>
        </p:txBody>
      </p:sp>
      <p:sp>
        <p:nvSpPr>
          <p:cNvPr id="19" name="Text 16"/>
          <p:cNvSpPr txBox="1"/>
          <p:nvPr/>
        </p:nvSpPr>
        <p:spPr>
          <a:xfrm>
            <a:off x="4297680" y="2560320"/>
            <a:ext cx="457200" cy="64008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20" name="Shape 17"/>
          <p:cNvSpPr/>
          <p:nvPr/>
        </p:nvSpPr>
        <p:spPr>
          <a:xfrm>
            <a:off x="4754880" y="2560320"/>
            <a:ext cx="3931920" cy="640080"/>
          </a:xfrm>
          <a:prstGeom prst="roundRect">
            <a:avLst>
              <a:gd name="adj" fmla="val 8571"/>
            </a:avLst>
          </a:prstGeom>
          <a:solidFill>
            <a:srgbClr val="FFFFFF"/>
          </a:solidFill>
          <a:ln w="12700">
            <a:solidFill>
              <a:srgbClr val="C00000"/>
            </a:solidFill>
            <a:prstDash val="solid"/>
          </a:ln>
        </p:spPr>
      </p:sp>
      <p:sp>
        <p:nvSpPr>
          <p:cNvPr id="21" name="Text 18"/>
          <p:cNvSpPr txBox="1"/>
          <p:nvPr/>
        </p:nvSpPr>
        <p:spPr>
          <a:xfrm>
            <a:off x="4800600" y="2560320"/>
            <a:ext cx="3840480" cy="640080"/>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JWT, RBAC, password hashing, validation</a:t>
            </a:r>
            <a:endParaRPr lang="en-US" sz="1400" dirty="0"/>
          </a:p>
        </p:txBody>
      </p:sp>
      <p:sp>
        <p:nvSpPr>
          <p:cNvPr id="22" name="Shape 19"/>
          <p:cNvSpPr/>
          <p:nvPr/>
        </p:nvSpPr>
        <p:spPr>
          <a:xfrm>
            <a:off x="457200" y="3337560"/>
            <a:ext cx="3840480" cy="640080"/>
          </a:xfrm>
          <a:prstGeom prst="roundRect">
            <a:avLst>
              <a:gd name="adj" fmla="val 8571"/>
            </a:avLst>
          </a:prstGeom>
          <a:solidFill>
            <a:srgbClr val="C00000"/>
          </a:solidFill>
          <a:ln w="12700">
            <a:solidFill>
              <a:srgbClr val="C00000"/>
            </a:solidFill>
            <a:prstDash val="solid"/>
          </a:ln>
        </p:spPr>
      </p:sp>
      <p:sp>
        <p:nvSpPr>
          <p:cNvPr id="23" name="Text 20"/>
          <p:cNvSpPr txBox="1"/>
          <p:nvPr/>
        </p:nvSpPr>
        <p:spPr>
          <a:xfrm>
            <a:off x="502920" y="3337560"/>
            <a:ext cx="374904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Handling payments and notifications</a:t>
            </a:r>
            <a:endParaRPr lang="en-US" sz="1400" dirty="0"/>
          </a:p>
        </p:txBody>
      </p:sp>
      <p:sp>
        <p:nvSpPr>
          <p:cNvPr id="24" name="Text 21"/>
          <p:cNvSpPr txBox="1"/>
          <p:nvPr/>
        </p:nvSpPr>
        <p:spPr>
          <a:xfrm>
            <a:off x="4297680" y="3337560"/>
            <a:ext cx="457200" cy="64008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25" name="Shape 22"/>
          <p:cNvSpPr/>
          <p:nvPr/>
        </p:nvSpPr>
        <p:spPr>
          <a:xfrm>
            <a:off x="4754880" y="3337560"/>
            <a:ext cx="3931920" cy="640080"/>
          </a:xfrm>
          <a:prstGeom prst="roundRect">
            <a:avLst>
              <a:gd name="adj" fmla="val 8571"/>
            </a:avLst>
          </a:prstGeom>
          <a:solidFill>
            <a:srgbClr val="FFFFFF"/>
          </a:solidFill>
          <a:ln w="12700">
            <a:solidFill>
              <a:srgbClr val="C00000"/>
            </a:solidFill>
            <a:prstDash val="solid"/>
          </a:ln>
        </p:spPr>
      </p:sp>
      <p:sp>
        <p:nvSpPr>
          <p:cNvPr id="26" name="Text 23"/>
          <p:cNvSpPr txBox="1"/>
          <p:nvPr/>
        </p:nvSpPr>
        <p:spPr>
          <a:xfrm>
            <a:off x="4800600" y="3337560"/>
            <a:ext cx="3840480" cy="640080"/>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Integrated Razorpay and FCM with error handling</a:t>
            </a:r>
            <a:endParaRPr lang="en-US" sz="1400" dirty="0"/>
          </a:p>
        </p:txBody>
      </p:sp>
      <p:sp>
        <p:nvSpPr>
          <p:cNvPr id="27" name="Shape 24"/>
          <p:cNvSpPr/>
          <p:nvPr/>
        </p:nvSpPr>
        <p:spPr>
          <a:xfrm>
            <a:off x="457200" y="4114800"/>
            <a:ext cx="3840480" cy="640080"/>
          </a:xfrm>
          <a:prstGeom prst="roundRect">
            <a:avLst>
              <a:gd name="adj" fmla="val 8571"/>
            </a:avLst>
          </a:prstGeom>
          <a:solidFill>
            <a:srgbClr val="C00000"/>
          </a:solidFill>
          <a:ln w="12700">
            <a:solidFill>
              <a:srgbClr val="C00000"/>
            </a:solidFill>
            <a:prstDash val="solid"/>
          </a:ln>
        </p:spPr>
      </p:sp>
      <p:sp>
        <p:nvSpPr>
          <p:cNvPr id="28" name="Text 25"/>
          <p:cNvSpPr txBox="1"/>
          <p:nvPr/>
        </p:nvSpPr>
        <p:spPr>
          <a:xfrm>
            <a:off x="502920" y="4114800"/>
            <a:ext cx="3749040" cy="6400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Keeping backend maintainable</a:t>
            </a:r>
            <a:endParaRPr lang="en-US" sz="1400" dirty="0"/>
          </a:p>
        </p:txBody>
      </p:sp>
      <p:sp>
        <p:nvSpPr>
          <p:cNvPr id="29" name="Text 26"/>
          <p:cNvSpPr txBox="1"/>
          <p:nvPr/>
        </p:nvSpPr>
        <p:spPr>
          <a:xfrm>
            <a:off x="4297680" y="4114800"/>
            <a:ext cx="457200" cy="640080"/>
          </a:xfrm>
          <a:prstGeom prst="rect">
            <a:avLst/>
          </a:prstGeom>
          <a:noFill/>
          <a:ln/>
        </p:spPr>
        <p:txBody>
          <a:bodyPr wrap="square" lIns="0" tIns="0" rIns="0" bIns="0" rtlCol="0" anchor="ctr"/>
          <a:lstStyle/>
          <a:p>
            <a:pPr marL="0" indent="0" algn="ctr">
              <a:buNone/>
            </a:pPr>
            <a:r>
              <a:rPr lang="en-US" sz="2000" b="1" dirty="0">
                <a:solidFill>
                  <a:srgbClr val="C00000"/>
                </a:solidFill>
                <a:latin typeface="Calibri" pitchFamily="34" charset="0"/>
                <a:ea typeface="Calibri" pitchFamily="34" charset="-122"/>
                <a:cs typeface="Calibri" pitchFamily="34" charset="-120"/>
              </a:rPr>
              <a:t>→</a:t>
            </a:r>
            <a:endParaRPr lang="en-US" sz="2000" dirty="0"/>
          </a:p>
        </p:txBody>
      </p:sp>
      <p:sp>
        <p:nvSpPr>
          <p:cNvPr id="30" name="Shape 27"/>
          <p:cNvSpPr/>
          <p:nvPr/>
        </p:nvSpPr>
        <p:spPr>
          <a:xfrm>
            <a:off x="4754880" y="4114800"/>
            <a:ext cx="3931920" cy="640080"/>
          </a:xfrm>
          <a:prstGeom prst="roundRect">
            <a:avLst>
              <a:gd name="adj" fmla="val 8571"/>
            </a:avLst>
          </a:prstGeom>
          <a:solidFill>
            <a:srgbClr val="FFFFFF"/>
          </a:solidFill>
          <a:ln w="12700">
            <a:solidFill>
              <a:srgbClr val="C00000"/>
            </a:solidFill>
            <a:prstDash val="solid"/>
          </a:ln>
        </p:spPr>
      </p:sp>
      <p:sp>
        <p:nvSpPr>
          <p:cNvPr id="31" name="Text 28"/>
          <p:cNvSpPr txBox="1"/>
          <p:nvPr/>
        </p:nvSpPr>
        <p:spPr>
          <a:xfrm>
            <a:off x="4800600" y="4114800"/>
            <a:ext cx="3840480" cy="640080"/>
          </a:xfrm>
          <a:prstGeom prst="rect">
            <a:avLst/>
          </a:prstGeom>
          <a:noFill/>
          <a:ln/>
        </p:spPr>
        <p:txBody>
          <a:bodyPr wrap="square" lIns="0" tIns="0" rIns="0" bIns="0" rtlCol="0" anchor="ctr"/>
          <a:lstStyle/>
          <a:p>
            <a:pPr marL="0" indent="0" algn="ctr">
              <a:buNone/>
            </a:pPr>
            <a:r>
              <a:rPr lang="en-US" sz="1400" dirty="0">
                <a:solidFill>
                  <a:srgbClr val="000000"/>
                </a:solidFill>
                <a:latin typeface="Calibri" pitchFamily="34" charset="0"/>
                <a:ea typeface="Calibri" pitchFamily="34" charset="-122"/>
                <a:cs typeface="Calibri" pitchFamily="34" charset="-120"/>
              </a:rPr>
              <a:t>Layered router–controller–service structure</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Current Progress</a:t>
            </a:r>
            <a:endParaRPr lang="en-US" sz="2200" dirty="0"/>
          </a:p>
        </p:txBody>
      </p:sp>
      <p:sp>
        <p:nvSpPr>
          <p:cNvPr id="7" name="Shape 4"/>
          <p:cNvSpPr/>
          <p:nvPr/>
        </p:nvSpPr>
        <p:spPr>
          <a:xfrm>
            <a:off x="457200" y="1005840"/>
            <a:ext cx="2651760" cy="3566160"/>
          </a:xfrm>
          <a:prstGeom prst="roundRect">
            <a:avLst>
              <a:gd name="adj" fmla="val 2069"/>
            </a:avLst>
          </a:prstGeom>
          <a:solidFill>
            <a:srgbClr val="FFFFFF"/>
          </a:solidFill>
          <a:ln w="12700">
            <a:solidFill>
              <a:srgbClr val="E3B5B8"/>
            </a:solidFill>
            <a:prstDash val="solid"/>
          </a:ln>
        </p:spPr>
      </p:sp>
      <p:sp>
        <p:nvSpPr>
          <p:cNvPr id="8" name="Text 5"/>
          <p:cNvSpPr txBox="1"/>
          <p:nvPr/>
        </p:nvSpPr>
        <p:spPr>
          <a:xfrm>
            <a:off x="566928" y="1060704"/>
            <a:ext cx="24323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Completed</a:t>
            </a:r>
            <a:endParaRPr lang="en-US" sz="1500" dirty="0"/>
          </a:p>
        </p:txBody>
      </p:sp>
      <p:sp>
        <p:nvSpPr>
          <p:cNvPr id="9" name="Text 6"/>
          <p:cNvSpPr txBox="1"/>
          <p:nvPr/>
        </p:nvSpPr>
        <p:spPr>
          <a:xfrm>
            <a:off x="566928" y="1417320"/>
            <a:ext cx="2432304" cy="3108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Requirement analysis</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ER model and schema</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Normalization (3NF)</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DDL and indexes</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Core REST APIs</a:t>
            </a:r>
            <a:endParaRPr lang="en-US" sz="1300" dirty="0"/>
          </a:p>
        </p:txBody>
      </p:sp>
      <p:sp>
        <p:nvSpPr>
          <p:cNvPr id="10" name="Shape 7"/>
          <p:cNvSpPr/>
          <p:nvPr/>
        </p:nvSpPr>
        <p:spPr>
          <a:xfrm>
            <a:off x="3246120" y="1005840"/>
            <a:ext cx="2651760" cy="3566160"/>
          </a:xfrm>
          <a:prstGeom prst="roundRect">
            <a:avLst>
              <a:gd name="adj" fmla="val 2069"/>
            </a:avLst>
          </a:prstGeom>
          <a:solidFill>
            <a:srgbClr val="FFFFFF"/>
          </a:solidFill>
          <a:ln w="12700">
            <a:solidFill>
              <a:srgbClr val="E3B5B8"/>
            </a:solidFill>
            <a:prstDash val="solid"/>
          </a:ln>
        </p:spPr>
      </p:sp>
      <p:sp>
        <p:nvSpPr>
          <p:cNvPr id="11" name="Text 8"/>
          <p:cNvSpPr txBox="1"/>
          <p:nvPr/>
        </p:nvSpPr>
        <p:spPr>
          <a:xfrm>
            <a:off x="3355848" y="1060704"/>
            <a:ext cx="24323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In Progress</a:t>
            </a:r>
            <a:endParaRPr lang="en-US" sz="1500" dirty="0"/>
          </a:p>
        </p:txBody>
      </p:sp>
      <p:sp>
        <p:nvSpPr>
          <p:cNvPr id="12" name="Text 9"/>
          <p:cNvSpPr txBox="1"/>
          <p:nvPr/>
        </p:nvSpPr>
        <p:spPr>
          <a:xfrm>
            <a:off x="3355848" y="1417320"/>
            <a:ext cx="2432304" cy="3108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Job-card and technician modules</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Invoice generation</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Payment integration</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Notifications</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Frontend integration</a:t>
            </a:r>
            <a:endParaRPr lang="en-US" sz="1300" dirty="0"/>
          </a:p>
        </p:txBody>
      </p:sp>
      <p:sp>
        <p:nvSpPr>
          <p:cNvPr id="13" name="Shape 10"/>
          <p:cNvSpPr/>
          <p:nvPr/>
        </p:nvSpPr>
        <p:spPr>
          <a:xfrm>
            <a:off x="6035040" y="1005840"/>
            <a:ext cx="2651760" cy="3566160"/>
          </a:xfrm>
          <a:prstGeom prst="roundRect">
            <a:avLst>
              <a:gd name="adj" fmla="val 2069"/>
            </a:avLst>
          </a:prstGeom>
          <a:solidFill>
            <a:srgbClr val="FFFFFF"/>
          </a:solidFill>
          <a:ln w="12700">
            <a:solidFill>
              <a:srgbClr val="E3B5B8"/>
            </a:solidFill>
            <a:prstDash val="solid"/>
          </a:ln>
        </p:spPr>
      </p:sp>
      <p:sp>
        <p:nvSpPr>
          <p:cNvPr id="14" name="Text 11"/>
          <p:cNvSpPr txBox="1"/>
          <p:nvPr/>
        </p:nvSpPr>
        <p:spPr>
          <a:xfrm>
            <a:off x="6144768" y="1060704"/>
            <a:ext cx="2432304" cy="320040"/>
          </a:xfrm>
          <a:prstGeom prst="rect">
            <a:avLst/>
          </a:prstGeom>
          <a:noFill/>
          <a:ln/>
        </p:spPr>
        <p:txBody>
          <a:bodyPr wrap="square" lIns="0" tIns="0" rIns="0" bIns="0" rtlCol="0" anchor="ctr"/>
          <a:lstStyle/>
          <a:p>
            <a:pPr marL="0" indent="0">
              <a:buNone/>
            </a:pPr>
            <a:r>
              <a:rPr lang="en-US" sz="1500" b="1" dirty="0">
                <a:solidFill>
                  <a:srgbClr val="C00000"/>
                </a:solidFill>
                <a:latin typeface="Calibri" pitchFamily="34" charset="0"/>
                <a:ea typeface="Calibri" pitchFamily="34" charset="-122"/>
                <a:cs typeface="Calibri" pitchFamily="34" charset="-120"/>
              </a:rPr>
              <a:t>Pending</a:t>
            </a:r>
            <a:endParaRPr lang="en-US" sz="1500" dirty="0"/>
          </a:p>
        </p:txBody>
      </p:sp>
      <p:sp>
        <p:nvSpPr>
          <p:cNvPr id="15" name="Text 12"/>
          <p:cNvSpPr txBox="1"/>
          <p:nvPr/>
        </p:nvSpPr>
        <p:spPr>
          <a:xfrm>
            <a:off x="6144768" y="1417320"/>
            <a:ext cx="2432304" cy="3108960"/>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Testing and load testing</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Docker deployment</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Documentation and demo</a:t>
            </a:r>
            <a:endParaRPr lang="en-US" sz="1300" dirty="0"/>
          </a:p>
          <a:p>
            <a:pPr marL="342900" indent="-342900">
              <a:spcAft>
                <a:spcPts val="300"/>
              </a:spcAft>
              <a:buSzPct val="100000"/>
              <a:buChar char="•"/>
            </a:pPr>
            <a:r>
              <a:rPr lang="en-US" sz="1300" dirty="0">
                <a:solidFill>
                  <a:srgbClr val="222222"/>
                </a:solidFill>
                <a:latin typeface="Calibri" pitchFamily="34" charset="0"/>
                <a:ea typeface="Calibri" pitchFamily="34" charset="-122"/>
                <a:cs typeface="Calibri" pitchFamily="34" charset="-120"/>
              </a:rPr>
              <a:t>Final presentation</a:t>
            </a:r>
            <a:endParaRPr lang="en-US" sz="1300" dirty="0"/>
          </a:p>
        </p:txBody>
      </p:sp>
      <p:sp>
        <p:nvSpPr>
          <p:cNvPr id="16" name="Text 13"/>
          <p:cNvSpPr txBox="1"/>
          <p:nvPr/>
        </p:nvSpPr>
        <p:spPr>
          <a:xfrm>
            <a:off x="457200" y="4617720"/>
            <a:ext cx="8229600" cy="274320"/>
          </a:xfrm>
          <a:prstGeom prst="rect">
            <a:avLst/>
          </a:prstGeom>
          <a:noFill/>
          <a:ln/>
        </p:spPr>
        <p:txBody>
          <a:bodyPr wrap="square" rtlCol="0" anchor="ctr"/>
          <a:lstStyle/>
          <a:p>
            <a:pPr marL="0" indent="0">
              <a:buNone/>
            </a:pPr>
            <a:r>
              <a:rPr lang="en-US" sz="1200" i="1" dirty="0">
                <a:solidFill>
                  <a:srgbClr val="777777"/>
                </a:solidFill>
                <a:latin typeface="Calibri" pitchFamily="34" charset="0"/>
                <a:ea typeface="Calibri" pitchFamily="34" charset="-122"/>
                <a:cs typeface="Calibri" pitchFamily="34" charset="-120"/>
              </a:rPr>
              <a:t>Adjust these columns to your actual status.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Future Work</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Microservices with API gateway and database-per-service</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Redis caching for faster responses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MongoDB for logs and activity data (polyglot persistence)</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Real-time vehicle service tracking</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Vector search for smart service recommendations</a:t>
            </a:r>
            <a:endParaRPr lang="en-US" sz="1600" dirty="0"/>
          </a:p>
          <a:p>
            <a:pPr marL="342900" indent="-342900">
              <a:spcAft>
                <a:spcPts val="600"/>
              </a:spcAft>
              <a:buSzPct val="100000"/>
              <a:buChar char="•"/>
            </a:pPr>
            <a:r>
              <a:rPr lang="en-US" sz="1600" dirty="0">
                <a:solidFill>
                  <a:srgbClr val="000000"/>
                </a:solidFill>
                <a:latin typeface="Calibri" pitchFamily="34" charset="0"/>
                <a:ea typeface="Calibri" pitchFamily="34" charset="-122"/>
                <a:cs typeface="Calibri" pitchFamily="34" charset="-120"/>
              </a:rPr>
              <a:t>Docker, Kubernetes, CI/CD and monitoring (Prometheus, Grafana)</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Conclusion</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0" indent="0">
              <a:buNone/>
            </a:pPr>
            <a:r>
              <a:rPr lang="en-US" sz="1600" dirty="0">
                <a:solidFill>
                  <a:srgbClr val="000000"/>
                </a:solidFill>
                <a:latin typeface="Calibri" pitchFamily="34" charset="0"/>
                <a:ea typeface="Calibri" pitchFamily="34" charset="-122"/>
                <a:cs typeface="Calibri" pitchFamily="34" charset="-120"/>
              </a:rPr>
              <a:t>The Vehicle Service Booking and Tracking System provides a centralized, database-driven platform for managing the complete vehicle servicing process.</a:t>
            </a:r>
            <a:endParaRPr lang="en-US" sz="1600" dirty="0"/>
          </a:p>
          <a:p>
            <a:pPr marL="0" indent="0">
              <a:buNone/>
            </a:pPr>
            <a:endParaRPr lang="en-US" sz="1600" dirty="0"/>
          </a:p>
          <a:p>
            <a:pPr marL="0" indent="0">
              <a:buNone/>
            </a:pPr>
            <a:r>
              <a:rPr lang="en-US" sz="1600" dirty="0">
                <a:solidFill>
                  <a:srgbClr val="000000"/>
                </a:solidFill>
                <a:latin typeface="Calibri" pitchFamily="34" charset="0"/>
                <a:ea typeface="Calibri" pitchFamily="34" charset="-122"/>
                <a:cs typeface="Calibri" pitchFamily="34" charset="-120"/>
              </a:rPr>
              <a:t>It offers faster and easier service booking, better service-status visibility, digital job cards and invoices, organized customer and vehicle records, improved service history management and a secure REST-based backend.</a:t>
            </a:r>
            <a:endParaRPr lang="en-US" sz="1600" dirty="0"/>
          </a:p>
          <a:p>
            <a:pPr marL="0" indent="0">
              <a:buNone/>
            </a:pPr>
            <a:endParaRPr lang="en-US" sz="1600" dirty="0"/>
          </a:p>
          <a:p>
            <a:pPr marL="0" indent="0">
              <a:buNone/>
            </a:pPr>
            <a:r>
              <a:rPr lang="en-US" sz="1600" dirty="0">
                <a:solidFill>
                  <a:srgbClr val="000000"/>
                </a:solidFill>
                <a:latin typeface="Calibri" pitchFamily="34" charset="0"/>
                <a:ea typeface="Calibri" pitchFamily="34" charset="-122"/>
                <a:cs typeface="Calibri" pitchFamily="34" charset="-120"/>
              </a:rPr>
              <a:t>"A database-driven platform for efficient and scalable vehicle service management."</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55448"/>
            <a:ext cx="4389120" cy="548640"/>
          </a:xfrm>
          <a:prstGeom prst="roundRect">
            <a:avLst>
              <a:gd name="adj" fmla="val 10000"/>
            </a:avLst>
          </a:prstGeom>
          <a:solidFill>
            <a:srgbClr val="C00000"/>
          </a:solidFill>
          <a:ln w="12700">
            <a:solidFill>
              <a:srgbClr val="1F2A5A"/>
            </a:solidFill>
            <a:prstDash val="solid"/>
          </a:ln>
        </p:spPr>
      </p:sp>
      <p:sp>
        <p:nvSpPr>
          <p:cNvPr id="6" name="Text 3"/>
          <p:cNvSpPr txBox="1"/>
          <p:nvPr/>
        </p:nvSpPr>
        <p:spPr>
          <a:xfrm>
            <a:off x="2377440" y="155448"/>
            <a:ext cx="4389120" cy="54864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References</a:t>
            </a:r>
            <a:endParaRPr lang="en-US" sz="2200" dirty="0"/>
          </a:p>
        </p:txBody>
      </p:sp>
      <p:sp>
        <p:nvSpPr>
          <p:cNvPr id="7" name="Text 4"/>
          <p:cNvSpPr txBox="1"/>
          <p:nvPr/>
        </p:nvSpPr>
        <p:spPr>
          <a:xfrm>
            <a:off x="548640" y="960120"/>
            <a:ext cx="8046720" cy="3931920"/>
          </a:xfrm>
          <a:prstGeom prst="rect">
            <a:avLst/>
          </a:prstGeom>
          <a:noFill/>
          <a:ln/>
        </p:spPr>
        <p:txBody>
          <a:bodyPr wrap="square" rtlCol="0" anchor="t"/>
          <a:lstStyle/>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MySQL Reference Manual - https://dev.mysql.com/doc/</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Node.js Documentation - https://nodejs.org/docs/</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Express.js Documentation - https://expressjs.com/</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React Documentation - https://react.dev/</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Razorpay API Documentation - https://razorpay.com/docs/</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Firebase Cloud Messaging - https://firebase.google.com/docs/cloud-messaging</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JWT Introduction - https://jwt.io/introduction</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Elmasri &amp; Navathe, Fundamentals of Database Systems</a:t>
            </a:r>
            <a:endParaRPr lang="en-US" sz="1400" dirty="0"/>
          </a:p>
          <a:p>
            <a:pPr marL="342900" indent="-342900">
              <a:spcAft>
                <a:spcPts val="600"/>
              </a:spcAft>
              <a:buSzPct val="100000"/>
              <a:buChar char="•"/>
            </a:pPr>
            <a:r>
              <a:rPr lang="en-US" sz="1400" dirty="0">
                <a:solidFill>
                  <a:srgbClr val="000000"/>
                </a:solidFill>
                <a:latin typeface="Calibri" pitchFamily="34" charset="0"/>
                <a:ea typeface="Calibri" pitchFamily="34" charset="-122"/>
                <a:cs typeface="Calibri" pitchFamily="34" charset="-120"/>
              </a:rPr>
              <a:t>Research papers / articles on vehicle service management systems</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CFAF9"/>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
          </a:xfrm>
          <a:prstGeom prst="rect">
            <a:avLst/>
          </a:prstGeom>
          <a:solidFill>
            <a:srgbClr val="B5242F"/>
          </a:solidFill>
          <a:ln w="12700">
            <a:solidFill>
              <a:srgbClr val="B5242F"/>
            </a:solidFill>
            <a:prstDash val="solid"/>
          </a:ln>
        </p:spPr>
      </p:sp>
      <p:sp>
        <p:nvSpPr>
          <p:cNvPr id="3" name="Shape 1"/>
          <p:cNvSpPr/>
          <p:nvPr/>
        </p:nvSpPr>
        <p:spPr>
          <a:xfrm>
            <a:off x="0" y="5097780"/>
            <a:ext cx="9144000" cy="45720"/>
          </a:xfrm>
          <a:prstGeom prst="rect">
            <a:avLst/>
          </a:prstGeom>
          <a:solidFill>
            <a:srgbClr val="B5242F"/>
          </a:solidFill>
          <a:ln w="12700">
            <a:solidFill>
              <a:srgbClr val="B5242F"/>
            </a:solidFill>
            <a:prstDash val="solid"/>
          </a:ln>
        </p:spPr>
      </p:sp>
      <p:pic>
        <p:nvPicPr>
          <p:cNvPr id="4" name="Image 0" descr="logo.png"/>
          <p:cNvPicPr>
            <a:picLocks noChangeAspect="1"/>
          </p:cNvPicPr>
          <p:nvPr/>
        </p:nvPicPr>
        <p:blipFill>
          <a:blip r:embed="rId3"/>
          <a:stretch>
            <a:fillRect/>
          </a:stretch>
        </p:blipFill>
        <p:spPr>
          <a:xfrm>
            <a:off x="0" y="45720"/>
            <a:ext cx="1572768" cy="704088"/>
          </a:xfrm>
          <a:prstGeom prst="rect">
            <a:avLst/>
          </a:prstGeom>
        </p:spPr>
      </p:pic>
      <p:sp>
        <p:nvSpPr>
          <p:cNvPr id="5" name="Shape 2"/>
          <p:cNvSpPr/>
          <p:nvPr/>
        </p:nvSpPr>
        <p:spPr>
          <a:xfrm>
            <a:off x="2377440" y="1920240"/>
            <a:ext cx="4389120" cy="1280160"/>
          </a:xfrm>
          <a:prstGeom prst="roundRect">
            <a:avLst>
              <a:gd name="adj" fmla="val 7143"/>
            </a:avLst>
          </a:prstGeom>
          <a:solidFill>
            <a:srgbClr val="C00000"/>
          </a:solidFill>
          <a:ln w="12700">
            <a:solidFill>
              <a:srgbClr val="1F2A5A"/>
            </a:solidFill>
            <a:prstDash val="solid"/>
          </a:ln>
        </p:spPr>
      </p:sp>
      <p:sp>
        <p:nvSpPr>
          <p:cNvPr id="6" name="Text 3"/>
          <p:cNvSpPr txBox="1"/>
          <p:nvPr/>
        </p:nvSpPr>
        <p:spPr>
          <a:xfrm>
            <a:off x="2377440" y="1920240"/>
            <a:ext cx="4389120" cy="1280160"/>
          </a:xfrm>
          <a:prstGeom prst="rect">
            <a:avLst/>
          </a:prstGeom>
          <a:noFill/>
          <a:ln/>
        </p:spPr>
        <p:txBody>
          <a:bodyPr wrap="square" rtlCol="0" anchor="ctr"/>
          <a:lstStyle/>
          <a:p>
            <a:pPr marL="0" indent="0" algn="ctr">
              <a:buNone/>
            </a:pPr>
            <a:r>
              <a:rPr lang="en-US" sz="3200" b="1" dirty="0">
                <a:solidFill>
                  <a:srgbClr val="FFFFFF"/>
                </a:solidFill>
                <a:latin typeface="Calibri" pitchFamily="34" charset="0"/>
                <a:ea typeface="Calibri" pitchFamily="34" charset="-122"/>
                <a:cs typeface="Calibri" pitchFamily="34" charset="-120"/>
              </a:rPr>
              <a:t>Thank you</a:t>
            </a:r>
            <a:endParaRPr lang="en-US" sz="3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311</TotalTime>
  <Words>1967</Words>
  <Application>Microsoft Office PowerPoint</Application>
  <PresentationFormat>On-screen Show (16:9)</PresentationFormat>
  <Paragraphs>277</Paragraphs>
  <Slides>26</Slides>
  <Notes>26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Shashanth Manchi</cp:lastModifiedBy>
  <cp:revision>3</cp:revision>
  <dcterms:created xsi:type="dcterms:W3CDTF">2026-10-03T04:14:17Z</dcterms:created>
  <dcterms:modified xsi:type="dcterms:W3CDTF">2026-10-03T13:09:47Z</dcterms:modified>
</cp:coreProperties>
</file>